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Prowler Checks by Cloud Provider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122</c:v>
                </c:pt>
                <c:pt idx="1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5-455F-B582-22A0F0BDD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110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E5-455F-B582-22A0F0BDDD9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2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2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Severity Mix of 285 Failing Checks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4F-4EFB-8AA1-CF3AC452E912}"/>
              </c:ext>
            </c:extLst>
          </c:dPt>
          <c:dPt>
            <c:idx val="1"/>
            <c:bubble3D val="0"/>
            <c:spPr>
              <a:solidFill>
                <a:srgbClr val="E872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4F-4EFB-8AA1-CF3AC452E912}"/>
              </c:ext>
            </c:extLst>
          </c:dPt>
          <c:dPt>
            <c:idx val="2"/>
            <c:bubble3D val="0"/>
            <c:spPr>
              <a:solidFill>
                <a:srgbClr val="E8B9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4F-4EFB-8AA1-CF3AC452E912}"/>
              </c:ext>
            </c:extLst>
          </c:dPt>
          <c:dPt>
            <c:idx val="3"/>
            <c:bubble3D val="0"/>
            <c:spPr>
              <a:solidFill>
                <a:srgbClr val="2E9E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4F-4EFB-8AA1-CF3AC452E91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4F-4EFB-8AA1-CF3AC452E91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4F-4EFB-8AA1-CF3AC452E912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4F-4EFB-8AA1-CF3AC452E912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C4F-4EFB-8AA1-CF3AC452E91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110</c:v>
                </c:pt>
                <c:pt idx="2">
                  <c:v>135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4F-4EFB-8AA1-CF3AC452E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Top 10 Services by Finding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VPC</c:v>
                </c:pt>
                <c:pt idx="1">
                  <c:v>EC2</c:v>
                </c:pt>
                <c:pt idx="2">
                  <c:v>CloudTrail</c:v>
                </c:pt>
                <c:pt idx="3">
                  <c:v>Storage</c:v>
                </c:pt>
                <c:pt idx="4">
                  <c:v>IAM</c:v>
                </c:pt>
                <c:pt idx="5">
                  <c:v>Defender</c:v>
                </c:pt>
                <c:pt idx="6">
                  <c:v>Network</c:v>
                </c:pt>
                <c:pt idx="7">
                  <c:v>Monitor</c:v>
                </c:pt>
                <c:pt idx="8">
                  <c:v>RDS</c:v>
                </c:pt>
                <c:pt idx="9">
                  <c:v>Entra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212</c:v>
                </c:pt>
                <c:pt idx="1">
                  <c:v>121</c:v>
                </c:pt>
                <c:pt idx="2">
                  <c:v>37</c:v>
                </c:pt>
                <c:pt idx="3">
                  <c:v>36</c:v>
                </c:pt>
                <c:pt idx="4">
                  <c:v>35</c:v>
                </c:pt>
                <c:pt idx="5">
                  <c:v>31</c:v>
                </c:pt>
                <c:pt idx="6">
                  <c:v>27</c:v>
                </c:pt>
                <c:pt idx="7">
                  <c:v>26</c:v>
                </c:pt>
                <c:pt idx="8">
                  <c:v>24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78-4FE5-BD55-7B1176802D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0B2545"/>
                </a:solidFill>
                <a:latin typeface="Calibri"/>
              </a:rPr>
              <a:t>Findings by Severity × Cloud Provider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E-42A7-A44B-765DF013AB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872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E-42A7-A44B-765DF013AB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8B9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392</c:v>
                </c:pt>
                <c:pt idx="1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E-42A7-A44B-765DF013ABA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AWS</c:v>
                </c:pt>
                <c:pt idx="1">
                  <c:v>Azure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26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DE-42A7-A44B-765DF013ABA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2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Findings by Priority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C0392B">
                <a:alpha val="9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P0 Critical</c:v>
                </c:pt>
                <c:pt idx="1">
                  <c:v>P1 High</c:v>
                </c:pt>
                <c:pt idx="2">
                  <c:v>P2 Medium</c:v>
                </c:pt>
                <c:pt idx="3">
                  <c:v>P3 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28</c:v>
                </c:pt>
                <c:pt idx="2">
                  <c:v>62</c:v>
                </c:pt>
                <c:pt idx="3">
                  <c:v>638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86-40FF-A8BF-00E5CCF1EE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Feature Importance (RandomForest)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CVSS</c:v>
                </c:pt>
                <c:pt idx="1">
                  <c:v>Severity</c:v>
                </c:pt>
                <c:pt idx="2">
                  <c:v>Service</c:v>
                </c:pt>
                <c:pt idx="3">
                  <c:v>Exposure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48.9</c:v>
                </c:pt>
                <c:pt idx="1">
                  <c:v>32.4</c:v>
                </c:pt>
                <c:pt idx="2">
                  <c:v>7.2</c:v>
                </c:pt>
                <c:pt idx="3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67-4741-A4F8-C4D69B59D9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7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1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4206240" cy="42062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065A82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× FUTURENSE  |  PG CERTIFICATE IN AI/GenAI POWERED CYBERSECURITY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CloudGuardian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Cloud Misconfiguration Detection &amp; Remediation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406908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&amp; 2  —  Build, Break, Detect &amp; Prioritize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CAP-CSE-3W        </a:t>
            </a: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    </a:t>
            </a: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Scope: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Azure (Multi-Cloud)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Megha   ·   Vinay Kumar   ·   Kedar Pavaskar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Misconfigurations Keep Coming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health-tech scale-up keeps failing ISO 27001 audits because the same issues resurface every sprint — public storage buckets, over-privileged IAM roles, unencrypted databases, and missing logging.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continuous CSPM with safe auto-remediation and a risk-prioritized backlog for everything else.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Outcomes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93852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38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9019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shared-responsibility model &amp; CIS Benchmarks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23957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95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3591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open-source CSPM tools and consolidate findings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85292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28163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ML-based prioritization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31012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310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32735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for plain-English, verified remediation guidance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76732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767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7307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event-driven auto-remediation with safety guardrails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4928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+ Azure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4928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4709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38160" y="4928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· ScoutSuite · Steampipe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394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614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/ Azure Functions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5394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LLM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5614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NVIDIA NIM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38160" y="5394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38160" y="5614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· Markdown/PDF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Deployed Multi-Cloud Workload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diagram-only exercise — a live 3-tier baseline was deployed via Terraform to a real AWS account and cross-checked against an Azure tenant, then scanned before any misconfiguration was introduced.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7175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8483" y="22585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78483" y="2258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36392"/>
            <a:ext cx="23888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Web Tier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13.233.15.121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4710" y="2057400"/>
            <a:ext cx="257175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4553" y="22585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24553" y="2258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86150" y="288036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6150" y="3136392"/>
            <a:ext cx="23888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cloudguardian-db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0780" y="2057400"/>
            <a:ext cx="257175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70623" y="22585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270623" y="2258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2220" y="288036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2220" y="3136392"/>
            <a:ext cx="23888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cloudguardian-data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86850" y="2057400"/>
            <a:ext cx="257175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16693" y="22585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116693" y="2258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8290" y="2880360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78290" y="3136392"/>
            <a:ext cx="23888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web-role + policies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47822" y="2761488"/>
            <a:ext cx="21945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993892" y="2761488"/>
            <a:ext cx="21945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8839962" y="2761488"/>
            <a:ext cx="219456" cy="14630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88620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0416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Environment (Account 735291151388 · ap-south-1)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vpc-0a4516d7…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8056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Subnet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subnet-00747fd…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816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Subnet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subnet-0e475b6…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846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SG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sg-0af7efda…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80560" y="4846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 SG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sg-0a87c019…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846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Bucket 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cloudguardian-data-235dbdd4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468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environment (Kedar's tenant) mirrors this baseline for cross-cloud comparison in Week 2.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Misconfigurations, Deliberately Introduced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was hand-crafted in Terraform with a documented baseline → misconfigured state and real-world breach rationale (e.g., Capital One, Twitch-style S3 exposure).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109960" cy="45171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Misconfiguration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Sev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IAM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Wildcard Action ("*") in inline EC2 role policy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IAM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Wildcard Resource ("*") in inline EC2 role policy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IAM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AdministratorAccess managed policy attached to EC2 role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M04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Storage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S3 public-access-block disabled (all 4 flags = false)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M05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Storage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S3 bucket versioning suspended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M06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Network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SSH (22) open to 0.0.0.0/0 on web security group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M07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Network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MySQL (3306) open to 0.0.0.0/0 on RDS security group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M08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RDS instance set publicly_accessible = true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M09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RDS storage_encrypted disabled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M10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Storage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S3 default server-side encryption removed entirely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M11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Compute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EC2 IMDSv2 disabled (http_tokens = optional)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M12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232E"/>
                          </a:solidFill>
                        </a:rPr>
                        <a:t>RDS automated backups disabled (retention = 0)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→ WEEK 2 HANDOFF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Prowler Scan: 431 Checks, 285 Failures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50876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440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85800" y="5550408"/>
            <a:ext cx="242316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431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85800" y="6092647"/>
            <a:ext cx="24231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checks scanned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+ Azure, scoped)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429000" y="5440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566160" y="5550408"/>
            <a:ext cx="242316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566160" y="6092647"/>
            <a:ext cx="24231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FAILED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(66% of checks scanned)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5440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46520" y="5550408"/>
            <a:ext cx="242316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46520" y="6092647"/>
            <a:ext cx="24231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misconfigs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AWS failures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189720" y="54406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326880" y="5550408"/>
            <a:ext cx="219456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326880" y="6092647"/>
            <a:ext cx="21945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tools used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Prowler·ScoutSuite·Steampipe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DETECT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Consolidating Three Scanners into One Findings 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v4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findings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943100"/>
            <a:ext cx="320040" cy="182880"/>
          </a:xfrm>
          <a:prstGeom prst="rightArrow">
            <a:avLst/>
          </a:prstGeom>
          <a:solidFill>
            <a:srgbClr val="5B7285"/>
          </a:solidFill>
          <a:ln/>
        </p:spPr>
      </p:sp>
      <p:sp>
        <p:nvSpPr>
          <p:cNvPr id="7" name="Shape 5"/>
          <p:cNvSpPr/>
          <p:nvPr/>
        </p:nvSpPr>
        <p:spPr>
          <a:xfrm>
            <a:off x="333756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ScoutSuite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 findings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60720" y="1943100"/>
            <a:ext cx="320040" cy="182880"/>
          </a:xfrm>
          <a:prstGeom prst="rightArrow">
            <a:avLst/>
          </a:prstGeom>
          <a:solidFill>
            <a:srgbClr val="5B7285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0" y="1554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findings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6260" y="2569464"/>
            <a:ext cx="320040" cy="365760"/>
          </a:xfrm>
          <a:prstGeom prst="downArrow">
            <a:avLst/>
          </a:prstGeom>
          <a:solidFill>
            <a:srgbClr val="5B7285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29718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29718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· Deduplicated · 729 Consolidated Findings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32520" y="155448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664208"/>
            <a:ext cx="265176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69680" y="2149754"/>
            <a:ext cx="26517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consolidated findings across AWS + Azure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32520" y="265176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69680" y="2761488"/>
            <a:ext cx="2651760" cy="52806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 / 233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69680" y="3247034"/>
            <a:ext cx="265176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vs. Azure finding split</a:t>
            </a:r>
            <a:endParaRPr lang="en-US" sz="10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57200" y="4160520"/>
          <a:ext cx="112928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DETECT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Skews High in Azure, Volume Skews to AWS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5836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60920" y="1508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totals (729 findings)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60920" y="192024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920240"/>
            <a:ext cx="10972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19202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46920" y="19202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60920" y="260604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606040"/>
            <a:ext cx="109728" cy="566928"/>
          </a:xfrm>
          <a:prstGeom prst="rect">
            <a:avLst/>
          </a:prstGeom>
          <a:solidFill>
            <a:srgbClr val="E8722C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26060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46920" y="26060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60920" y="329184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3291840"/>
            <a:ext cx="109728" cy="56692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91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646920" y="3291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B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360920" y="3977640"/>
            <a:ext cx="4297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60920" y="3977640"/>
            <a:ext cx="109728" cy="56692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0" name="Text 17"/>
          <p:cNvSpPr/>
          <p:nvPr/>
        </p:nvSpPr>
        <p:spPr>
          <a:xfrm>
            <a:off x="7635240" y="39776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46920" y="39776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360920" y="47091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4846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split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89520" y="51206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carries fewer findings overall but a higher share are High/Critical — its identity &amp; firewall checks (Entra, SQL firewall) surfaced sharper issues than AWS's broader VPC/EC2 noise.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PRIORITIZE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 Turns 729 Findings into an Action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109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Score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CVSS</a:t>
            </a:r>
            <a:r>
              <a:rPr lang="en-US" sz="2000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Score</a:t>
            </a:r>
            <a:r>
              <a:rPr lang="en-US" sz="2000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 Radius</a:t>
            </a:r>
            <a:endParaRPr lang="en-US" sz="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514600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035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colors: 🔴 P0 Critical  🟠 P1 High  🟡 P2 Medium  🟢 P3 Low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514600"/>
          <a:ext cx="4389120" cy="2514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Band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Azure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of All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P0 · Critical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≥ 100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0.1%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P1 · High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60–99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15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13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28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3.8%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P2 · Medium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30–59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44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62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8.5%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P3 · Low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&lt; 30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436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202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638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</a:rPr>
                        <a:t>87.5%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69480" y="5989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ranges follow CVSS × Exposure × Blast-Radius; only 4% of findings need urgent human attention — the rest queue for scheduled remediation.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PRIORITIZE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Findings That Matter Most Right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729-row priority queue — RDS and network exposure dominate the critical/high band across both clouds.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109960" cy="40233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Cloud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FND-0300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114.0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RDS instance publicly accessible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FND-0464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90.0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RDS instance publicly accessible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FND-0061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90.0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IAM inline policy allows privilege escalation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FND-0315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Azure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85.5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SQL Server firewall allows all IPs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FND-0040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85.5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EC2 security group allows ingress from the internet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FND-0299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85.5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Security group allows MySQL (3306) from 0.0.0.0/0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728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FND-0260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Azure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85.5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</a:rPr>
                        <a:t>Azure SQL Server missing firewall rules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RandomForest Risk Classifier — and Why SMOTE Mattered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CVSS · exposure · blast radius · service · severity · cloud  |  Train 510 / Test 219 findings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9436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Baseline (no SMOTE)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SMOTE-Balanced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</a:rPr>
                        <a:t>CV Accuracy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7285"/>
                          </a:solidFill>
                        </a:rPr>
                        <a:t>87.8% ± 7.5%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92.6% ± 8.7%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</a:rPr>
                        <a:t>CV Macro-F1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7285"/>
                          </a:solidFill>
                        </a:rPr>
                        <a:t>76.7% ± 6.2%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82.4% ± 7.6%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</a:rPr>
                        <a:t>HIGH-class Precision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7285"/>
                          </a:solidFill>
                        </a:rPr>
                        <a:t>20.0%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100.0%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</a:rPr>
                        <a:t>HIGH-class Recall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7285"/>
                          </a:solidFill>
                        </a:rPr>
                        <a:t>85.7%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71.4%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</a:rPr>
                        <a:t>HIGH-class F1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7285"/>
                          </a:solidFill>
                        </a:rPr>
                        <a:t>32.4%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</a:rPr>
                        <a:t>83.3%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2120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is only 3.4% of findings (25/729). SMOTE rebalanced training so the model over-flags less and trusts its HIGH calls more — critical for a triage tool.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766560" y="1874520"/>
          <a:ext cx="48920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766560" y="4892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903720" y="5001768"/>
            <a:ext cx="2103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2600" dirty="0"/>
          </a:p>
        </p:txBody>
      </p:sp>
      <p:sp>
        <p:nvSpPr>
          <p:cNvPr id="5" name="Text 7"/>
          <p:cNvSpPr/>
          <p:nvPr/>
        </p:nvSpPr>
        <p:spPr>
          <a:xfrm>
            <a:off x="6903720" y="5742432"/>
            <a:ext cx="2103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accuracy, single held-out split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281160" y="48920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418320" y="5001768"/>
            <a:ext cx="2103120" cy="7543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0.019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9418320" y="5742432"/>
            <a:ext cx="21031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Train↔CV gap after SMOTE — good fit, low overfit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Guidance, Grounded — Not Guessed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Top-k=3 chunks pulled from a control knowledge base (CIS AWS v5.0.0, Microsoft CSB, AWS Well-Architected) via nv-embedqa-e5-v5 embeddings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96512" y="2514600"/>
            <a:ext cx="219456" cy="182880"/>
          </a:xfrm>
          <a:prstGeom prst="rightArrow">
            <a:avLst/>
          </a:prstGeom>
          <a:solidFill>
            <a:srgbClr val="5B7285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meta/llama-3.1-8b-instruct (NVIDIA NIM API) drafts a 2-line plain-English fix for each top-priority finding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91272" y="2514600"/>
            <a:ext cx="219456" cy="182880"/>
          </a:xfrm>
          <a:prstGeom prst="rightArrow">
            <a:avLst/>
          </a:prstGeom>
          <a:solidFill>
            <a:srgbClr val="5B7285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63500" dist="25400" dir="5400000" algn="bl" rotWithShape="0">
              <a:srgbClr val="1B2B3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7373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37744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grounding check — output validated against both the retrieved control text and the raw scanner data before acceptance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133088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5800" y="4817059"/>
            <a:ext cx="2331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Top-priority findings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end-to-end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4023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4133088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429000" y="4817059"/>
            <a:ext cx="2331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YES against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scan data (93%)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023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4133088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7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72200" y="4817059"/>
            <a:ext cx="2331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REVIEW 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human check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78240" y="4023360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15400" y="4133088"/>
            <a:ext cx="2606040" cy="7040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915400" y="4817059"/>
            <a:ext cx="26060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in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knowledge 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48640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FND-0300 (RDS Instance Publicly Accessible, AWS, Critical): retrieved control mapped to CIS AWS Foundations Benchmark v5.0.0; guidance generated, then verified via embedding-similarity against the raw finding before being marked usable.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STRETCH GOAL ACHIEVED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Sensitive Leaves the Account —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finding text reaches the LLM, an OWASP LLM06-aligned redaction engine strips 13 categories of sensitive identifiers, mapped in-memory only.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6654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IDs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1850" y="201168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329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31970" y="206654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 Keys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5060" y="201168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55180" y="206654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IDs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18270" y="201168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9710" y="20665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978390" y="206654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4378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284378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 IDs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71850" y="278892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3290" y="284378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31970" y="284378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 Names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5060" y="278892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0" y="284378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55180" y="284378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Addresses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18270" y="278892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09710" y="284378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978390" y="284378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 IDs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210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08760" y="362102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ID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71850" y="356616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63290" y="36210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331970" y="362102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Endpoint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5060" y="356616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6500" y="36210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55180" y="362102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18270" y="356616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9710" y="36210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978390" y="362102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343400"/>
            <a:ext cx="264033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39826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508760" y="4398264"/>
            <a:ext cx="158877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34924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unique sensitive values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redacted across 13 categories before LLM exposure — a privacy-preserving stretch goal from the capstone brief, delivered inside Week 2 rather than deferred.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&amp; 2 Deliverables —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Multi-cloud workload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AWS baseline + Azure environment deployed via Terraform, both scanned pre- and post-misconfiguration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136392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73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misconfigurations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M01–M12 hand-crafted across IAM, storage, network, database &amp; compute, each with documented baseline → insecure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67258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672584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097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729 consolidated findings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1480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 v4, ScoutSuite &amp; Steampipe outputs normalized into one schema across AWS + Azure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0020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scoring 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207568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× Exposure × Blast-Radius ranks all 729 findings into P0–P3 action bands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136392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136392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273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classifier + SMOTE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3611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risk model reaching 92.6% CV accuracy; HIGH-class precision lifted from 20% to 100%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672584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9EE"/>
            </a:solidFill>
            <a:prstDash val="solid"/>
          </a:ln>
          <a:effectLst>
            <a:outerShdw blurRad="50800" dist="25400" dir="5400000" algn="bl" rotWithShape="0">
              <a:srgbClr val="1B2B3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672584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8097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LLM guidance + redaction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51480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top findings given verified remediation text; 167 sensitive values redacted first (OWASP LLM06)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3: From Priority Queue to Guardrailed Auto-Remediation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92808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remediation for safe fixes — bucket public-access-block, IAM key rotation, encryption guardrails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59736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Human-approval gate for every remediation classified as risky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26664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crosswalk mapped to ISO 27001 Annex A + DPDP Act 2023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59359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and live demo: detect → prioritize → remediate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4663440"/>
            <a:ext cx="1106424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CloudGuardian  ·  CAP-CSE-3W  ·  IIT Roorkee × Futurense — PG Certificate in AI/GenAI Powered Cybersecurity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Megha   ·   Vinay Kumar   ·   Kedar Pavaskar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852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82880"/>
            <a:ext cx="6783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/>
              <a:t>CloudGuardian Auto-Remediation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69" y="822960"/>
            <a:ext cx="6995313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Objective:</a:t>
            </a:r>
          </a:p>
          <a:p>
            <a:pPr>
              <a:defRPr sz="2200"/>
            </a:pPr>
            <a:r>
              <a:rPr sz="2200"/>
              <a:t>• Detect AWS misconfigurations using Prowler.</a:t>
            </a:r>
          </a:p>
          <a:p>
            <a:pPr>
              <a:defRPr sz="2200"/>
            </a:pPr>
            <a:r>
              <a:rPr sz="2200"/>
              <a:t>• Obtain human approval before critical changes.</a:t>
            </a:r>
          </a:p>
          <a:p>
            <a:pPr>
              <a:defRPr sz="2200"/>
            </a:pPr>
            <a:r>
              <a:rPr sz="2200"/>
              <a:t>• Safely remediate resources using AWS serverless services.</a:t>
            </a:r>
          </a:p>
        </p:txBody>
      </p:sp>
    </p:spTree>
    <p:extLst>
      <p:ext uri="{BB962C8B-B14F-4D97-AF65-F5344CB8AC3E}">
        <p14:creationId xmlns:p14="http://schemas.microsoft.com/office/powerpoint/2010/main" val="236684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82880"/>
            <a:ext cx="33661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/>
              <a:t>Architecture Diagram</a:t>
            </a:r>
          </a:p>
        </p:txBody>
      </p:sp>
      <p:pic>
        <p:nvPicPr>
          <p:cNvPr id="3" name="Picture 2" descr="image(8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08" y="731520"/>
            <a:ext cx="9601200" cy="1313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4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82880"/>
            <a:ext cx="25378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/>
              <a:t>Workflow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68" y="822961"/>
            <a:ext cx="6823022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1. Prowler detects a finding.</a:t>
            </a:r>
          </a:p>
          <a:p>
            <a:pPr>
              <a:defRPr sz="2200"/>
            </a:pPr>
            <a:r>
              <a:rPr sz="2200"/>
              <a:t>2. SNS publishes the finding.</a:t>
            </a:r>
          </a:p>
          <a:p>
            <a:pPr>
              <a:defRPr sz="2200"/>
            </a:pPr>
            <a:r>
              <a:rPr sz="2200"/>
              <a:t>3. Starter Lambda starts Step Functions.</a:t>
            </a:r>
          </a:p>
          <a:p>
            <a:pPr>
              <a:defRPr sz="2200"/>
            </a:pPr>
            <a:r>
              <a:rPr sz="2200"/>
              <a:t>4. Workflow pauses for approval.</a:t>
            </a:r>
          </a:p>
          <a:p>
            <a:pPr>
              <a:defRPr sz="2200"/>
            </a:pPr>
            <a:r>
              <a:rPr sz="2200"/>
              <a:t>5. Notification Lambda sends email.</a:t>
            </a:r>
          </a:p>
          <a:p>
            <a:pPr>
              <a:defRPr sz="2200"/>
            </a:pPr>
            <a:r>
              <a:rPr sz="2200"/>
              <a:t>6. Admin approves/rejects.</a:t>
            </a:r>
          </a:p>
          <a:p>
            <a:pPr>
              <a:defRPr sz="2200"/>
            </a:pPr>
            <a:r>
              <a:rPr sz="2200"/>
              <a:t>7. API Gateway + Approval Lambda resume/end workflow.</a:t>
            </a:r>
          </a:p>
          <a:p>
            <a:pPr>
              <a:defRPr sz="2200"/>
            </a:pPr>
            <a:r>
              <a:rPr sz="2200"/>
              <a:t>8. Remediation Lambda fixes the resource.</a:t>
            </a:r>
          </a:p>
        </p:txBody>
      </p:sp>
    </p:spTree>
    <p:extLst>
      <p:ext uri="{BB962C8B-B14F-4D97-AF65-F5344CB8AC3E}">
        <p14:creationId xmlns:p14="http://schemas.microsoft.com/office/powerpoint/2010/main" val="2676707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82880"/>
            <a:ext cx="33012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/>
              <a:t>Why Step Functions?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68" y="822960"/>
            <a:ext cx="6162906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• Orchestrates the workflow.</a:t>
            </a:r>
          </a:p>
          <a:p>
            <a:pPr>
              <a:defRPr sz="2200"/>
            </a:pPr>
            <a:r>
              <a:rPr sz="2200"/>
              <a:t>• Supports human approval using waitForTaskToken.</a:t>
            </a:r>
          </a:p>
          <a:p>
            <a:pPr>
              <a:defRPr sz="2200"/>
            </a:pPr>
            <a:r>
              <a:rPr sz="2200"/>
              <a:t>• Automatically resumes after approval.</a:t>
            </a:r>
          </a:p>
          <a:p>
            <a:pPr>
              <a:defRPr sz="2200"/>
            </a:pPr>
            <a:r>
              <a:rPr sz="2200"/>
              <a:t>• Provides retry, logging,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53009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348" y="182880"/>
            <a:ext cx="40795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2800"/>
              <a:t>Production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69" y="822960"/>
            <a:ext cx="463915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200"/>
              <a:t>• EventBridge for intelligent routing.</a:t>
            </a:r>
          </a:p>
          <a:p>
            <a:pPr>
              <a:defRPr sz="2200"/>
            </a:pPr>
            <a:r>
              <a:rPr sz="2200"/>
              <a:t>• DynamoDB for audit trail.</a:t>
            </a:r>
          </a:p>
          <a:p>
            <a:pPr>
              <a:defRPr sz="2200"/>
            </a:pPr>
            <a:r>
              <a:rPr sz="2200"/>
              <a:t>• SQS for buffering.</a:t>
            </a:r>
          </a:p>
          <a:p>
            <a:pPr>
              <a:defRPr sz="2200"/>
            </a:pPr>
            <a:r>
              <a:rPr sz="2200"/>
              <a:t>• CloudWatch &amp; CloudTrail monitoring.</a:t>
            </a:r>
          </a:p>
          <a:p>
            <a:pPr>
              <a:defRPr sz="2200"/>
            </a:pPr>
            <a:r>
              <a:rPr sz="2200"/>
              <a:t>• Security Hub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59406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2D4D8-BE17-5A52-066D-0EB98479780E}"/>
              </a:ext>
            </a:extLst>
          </p:cNvPr>
          <p:cNvSpPr txBox="1"/>
          <p:nvPr/>
        </p:nvSpPr>
        <p:spPr>
          <a:xfrm>
            <a:off x="2702257" y="1937982"/>
            <a:ext cx="4483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2430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1710</Words>
  <Application>Microsoft Office PowerPoint</Application>
  <PresentationFormat>Widescreen</PresentationFormat>
  <Paragraphs>412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 Sharma</cp:lastModifiedBy>
  <cp:revision>2</cp:revision>
  <dcterms:created xsi:type="dcterms:W3CDTF">2026-07-16T07:33:21Z</dcterms:created>
  <dcterms:modified xsi:type="dcterms:W3CDTF">2026-07-27T10:17:54Z</dcterms:modified>
</cp:coreProperties>
</file>