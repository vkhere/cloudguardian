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305" r:id="rId4"/>
    <p:sldId id="304" r:id="rId5"/>
    <p:sldId id="321" r:id="rId6"/>
    <p:sldId id="309" r:id="rId7"/>
    <p:sldId id="310" r:id="rId8"/>
    <p:sldId id="319" r:id="rId9"/>
    <p:sldId id="320" r:id="rId10"/>
    <p:sldId id="279" r:id="rId11"/>
    <p:sldId id="317" r:id="rId12"/>
    <p:sldId id="318" r:id="rId13"/>
    <p:sldId id="299" r:id="rId14"/>
    <p:sldId id="301" r:id="rId15"/>
    <p:sldId id="269" r:id="rId16"/>
    <p:sldId id="285" r:id="rId17"/>
    <p:sldId id="286" r:id="rId18"/>
    <p:sldId id="287" r:id="rId19"/>
    <p:sldId id="290" r:id="rId20"/>
    <p:sldId id="311" r:id="rId21"/>
    <p:sldId id="312" r:id="rId22"/>
    <p:sldId id="313" r:id="rId23"/>
    <p:sldId id="314" r:id="rId24"/>
    <p:sldId id="315" r:id="rId25"/>
    <p:sldId id="274" r:id="rId26"/>
    <p:sldId id="270" r:id="rId27"/>
    <p:sldId id="273" r:id="rId28"/>
    <p:sldId id="275" r:id="rId29"/>
    <p:sldId id="278" r:id="rId30"/>
    <p:sldId id="280" r:id="rId31"/>
    <p:sldId id="281" r:id="rId32"/>
    <p:sldId id="282" r:id="rId33"/>
    <p:sldId id="283" r:id="rId34"/>
    <p:sldId id="284" r:id="rId35"/>
    <p:sldId id="292" r:id="rId36"/>
    <p:sldId id="293" r:id="rId37"/>
    <p:sldId id="294" r:id="rId38"/>
    <p:sldId id="295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1CC3E6-C7D6-4EA5-A743-4035AE784170}">
          <p14:sldIdLst>
            <p14:sldId id="256"/>
            <p14:sldId id="257"/>
            <p14:sldId id="305"/>
            <p14:sldId id="304"/>
            <p14:sldId id="321"/>
            <p14:sldId id="309"/>
            <p14:sldId id="310"/>
            <p14:sldId id="319"/>
            <p14:sldId id="320"/>
            <p14:sldId id="279"/>
            <p14:sldId id="317"/>
            <p14:sldId id="318"/>
            <p14:sldId id="299"/>
            <p14:sldId id="301"/>
          </p14:sldIdLst>
        </p14:section>
        <p14:section name="Annex" id="{7D16FBC5-DDD7-4E91-AF64-0358E43795A1}">
          <p14:sldIdLst>
            <p14:sldId id="269"/>
            <p14:sldId id="285"/>
            <p14:sldId id="286"/>
            <p14:sldId id="287"/>
            <p14:sldId id="290"/>
            <p14:sldId id="311"/>
            <p14:sldId id="312"/>
            <p14:sldId id="313"/>
            <p14:sldId id="314"/>
            <p14:sldId id="315"/>
            <p14:sldId id="274"/>
            <p14:sldId id="270"/>
            <p14:sldId id="273"/>
            <p14:sldId id="275"/>
            <p14:sldId id="278"/>
            <p14:sldId id="280"/>
            <p14:sldId id="281"/>
            <p14:sldId id="282"/>
            <p14:sldId id="283"/>
            <p14:sldId id="284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7339" autoAdjust="0"/>
  </p:normalViewPr>
  <p:slideViewPr>
    <p:cSldViewPr snapToGrid="0" snapToObjects="1">
      <p:cViewPr varScale="1">
        <p:scale>
          <a:sx n="153" d="100"/>
          <a:sy n="153" d="100"/>
        </p:scale>
        <p:origin x="46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findings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 (broken)</c:v>
                </c:pt>
                <c:pt idx="1">
                  <c:v>After safe auto-fix</c:v>
                </c:pt>
                <c:pt idx="2">
                  <c:v>After full remediation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41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8C-4A91-85B4-3848EA251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0B1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7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Set an executive, consulting register before a word is spoken.
TALKING POINTS: This is a briefing on a CSPM capability, not a lab walkthrough; no live demo - the deck itself is the evidence.
NARRATION: "Good morning. Over the next fifteen minutes I'll brief you on </a:t>
            </a:r>
            <a:r>
              <a:rPr lang="en-US" dirty="0" err="1"/>
              <a:t>CloudGuardian</a:t>
            </a:r>
            <a:r>
              <a:rPr lang="en-US" dirty="0"/>
              <a:t> - an AI-assisted cloud security posture management capability built end-to-end on Microsoft Azure. Everything you'll see is drawn from a working system."
TRANSITION: "Let me start where every steering committee wants to start - the bottom line."
LIKELY Q: None expected at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Give the whole story away up </a:t>
            </a:r>
            <a:r>
              <a:rPr lang="en-US"/>
              <a:t>front - </a:t>
            </a:r>
            <a:r>
              <a:rPr lang="en-US" dirty="0"/>
              <a:t>consulting decks never bury the lede.
TALKING POINTS: Four capabilities, four hard numbers. 16 deliberate flaws (double the bar), 83 findings / 68 FAILs detected, all mapped to ISO 27001.
NARRATION: "Here is the entire engagement on one slide. We deliberately broke a real Azure environment sixteen ways, detected it with three independent tools producing 83 findings and 68 confirmed failures, prioritized and explained them with AI that we verified, auto-remediated the safe fixes, and gated the risky ones behind human </a:t>
            </a:r>
            <a:r>
              <a:rPr lang="en-US"/>
              <a:t>approval - </a:t>
            </a:r>
            <a:r>
              <a:rPr lang="en-US" dirty="0"/>
              <a:t>every control traceable to ISO 27001."
TRANSITION: "To see why this matters, start with the business problem it was built to solve."
LIKELY Q: "Is this AWS too</a:t>
            </a:r>
            <a:r>
              <a:rPr lang="en-US"/>
              <a:t>?" - </a:t>
            </a:r>
            <a:r>
              <a:rPr lang="en-US" dirty="0"/>
              <a:t>Azure is the deployed system of record; the pipeline is cloud-agnostic by design (slide 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Justify automation and prioritization as the correct solution shape before introducing CloudGuardian.
TALKING POINTS: Snapshots age instantly; change outpaces human review; raw un-prioritized output causes alert fatigue.
NARRATION: "A manual audit is a photograph of a moving car. By the time it's written up, the estate has changed hundreds of times. And simply pointing more scanners at the problem makes it </a:t>
            </a:r>
            <a:r>
              <a:rPr lang="en-US"/>
              <a:t>worse - </a:t>
            </a:r>
            <a:r>
              <a:rPr lang="en-US" dirty="0"/>
              <a:t>un-prioritized noise gets ignored. The answer has to be continuous, automated, and ranked."
TRANSITION: "That operating model is exactly what CloudGuardian was built to deliver."
LIKELY Q: "Doesn't Defender do this already</a:t>
            </a:r>
            <a:r>
              <a:rPr lang="en-US"/>
              <a:t>?" - </a:t>
            </a:r>
            <a:r>
              <a:rPr lang="en-US" dirty="0"/>
              <a:t>Yes in part; we integrate that thinking and add multi-tool triangulation, custom prioritization and governed remediation (covered later).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single most important </a:t>
            </a:r>
            <a:r>
              <a:rPr lang="en-US"/>
              <a:t>visual - </a:t>
            </a:r>
            <a:r>
              <a:rPr lang="en-US" dirty="0"/>
              <a:t>the whole system end-to-end on one page. It is the map the audience references for the rest of the talk.
TALKING POINTS: Six </a:t>
            </a:r>
            <a:r>
              <a:rPr lang="en-US"/>
              <a:t>stages - </a:t>
            </a:r>
            <a:r>
              <a:rPr lang="en-US" dirty="0"/>
              <a:t>workload, scanners, canonical findings, prioritize+explain, approval dashboard, remediate+</a:t>
            </a:r>
            <a:r>
              <a:rPr lang="en-US"/>
              <a:t>audit - </a:t>
            </a:r>
            <a:r>
              <a:rPr lang="en-US" dirty="0"/>
              <a:t>connected as a continuous loop.
NARRATION: "This is the entire system on one page. A real Azure workload is scanned by three tools; findings normalize into one canonical store; they're scored and explained; an analyst approves or rejects in a dashboard; safe fixes are applied and everything is </a:t>
            </a:r>
            <a:r>
              <a:rPr lang="en-US"/>
              <a:t>logged - </a:t>
            </a:r>
            <a:r>
              <a:rPr lang="en-US" dirty="0"/>
              <a:t>then it re-scans. Every slide that follows is a zoom into one of these boxes."
TRANSITION: "Let's start at the </a:t>
            </a:r>
            <a:r>
              <a:rPr lang="en-US"/>
              <a:t>left - </a:t>
            </a:r>
            <a:r>
              <a:rPr lang="en-US" dirty="0"/>
              <a:t>the workload itself."
LIKELY Q: "Where does Azure-native Defender fit</a:t>
            </a:r>
            <a:r>
              <a:rPr lang="en-US"/>
              <a:t>?" - </a:t>
            </a:r>
            <a:r>
              <a:rPr lang="en-US" dirty="0"/>
              <a:t>as a complementary read-only signal source into the canonical store; our pipeline is tool-agnostic.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single most important </a:t>
            </a:r>
            <a:r>
              <a:rPr lang="en-US"/>
              <a:t>visual - </a:t>
            </a:r>
            <a:r>
              <a:rPr lang="en-US" dirty="0"/>
              <a:t>the whole system end-to-end on one page. It is the map the audience references for the rest of the talk.
TALKING POINTS: Six </a:t>
            </a:r>
            <a:r>
              <a:rPr lang="en-US"/>
              <a:t>stages - </a:t>
            </a:r>
            <a:r>
              <a:rPr lang="en-US" dirty="0"/>
              <a:t>workload, scanners, canonical findings, prioritize+explain, approval dashboard, remediate+</a:t>
            </a:r>
            <a:r>
              <a:rPr lang="en-US"/>
              <a:t>audit - </a:t>
            </a:r>
            <a:r>
              <a:rPr lang="en-US" dirty="0"/>
              <a:t>connected as a continuous loop.
NARRATION: "This is the entire system on one page. A real Azure workload is scanned by three tools; findings normalize into one canonical store; they're scored and explained; an analyst approves or rejects in a dashboard; safe fixes are applied and everything is </a:t>
            </a:r>
            <a:r>
              <a:rPr lang="en-US"/>
              <a:t>logged - </a:t>
            </a:r>
            <a:r>
              <a:rPr lang="en-US" dirty="0"/>
              <a:t>then it re-scans. Every slide that follows is a zoom into one of these boxes."
TRANSITION: "Let's start at the </a:t>
            </a:r>
            <a:r>
              <a:rPr lang="en-US"/>
              <a:t>left - </a:t>
            </a:r>
            <a:r>
              <a:rPr lang="en-US" dirty="0"/>
              <a:t>the workload itself."
LIKELY Q: "Where does Azure-native Defender fit</a:t>
            </a:r>
            <a:r>
              <a:rPr lang="en-US"/>
              <a:t>?" - </a:t>
            </a:r>
            <a:r>
              <a:rPr lang="en-US" dirty="0"/>
              <a:t>as a complementary read-only signal source into the canonical store; our pipeline is tool-agnostic.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510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Turn a tooling choice into demonstrated security-engineering judgment.
TALKING POINTS: Prowler for breadth (83 findings), ScoutSuite as an independent second opinion, Steampipe for SQL querying and CIS-benchmark-native validation.
NARRATION: "One scanner has blind spots. So we ran three with different engines: Prowler for breadth, ScoutSuite as an independent cross-check, and Steampipe to query findings as SQL against the CIS benchmark. Where they agree, confidence is high; where they diverge, that divergence is itself a signal."
TRANSITION: "Now the core of the </a:t>
            </a:r>
            <a:r>
              <a:rPr lang="en-US"/>
              <a:t>work - </a:t>
            </a:r>
            <a:r>
              <a:rPr lang="en-US" dirty="0"/>
              <a:t>how we broke, detected, reasoned about, and governed this environment."
LIKELY Q: "ScoutSuite maintenance</a:t>
            </a:r>
            <a:r>
              <a:rPr lang="en-US"/>
              <a:t>?" - </a:t>
            </a:r>
            <a:r>
              <a:rPr lang="en-US" dirty="0"/>
              <a:t>aware it's been lightly maintained since 2024; used as corroboration, not sole </a:t>
            </a:r>
            <a:r>
              <a:rPr lang="en-US"/>
              <a:t>source - </a:t>
            </a:r>
            <a:r>
              <a:rPr lang="en-US" dirty="0"/>
              <a:t>exactly why three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Resolve the Azure/AWS scope question by reframing it as a deliberate platform-engineering strength.
TALKING POINTS: Three raw formats normalize into one canonical schema; every downstream consumer reads only that schema; adding AWS is adding a conforming CSV.
NARRATION: "Three tools produce three formats. Rather than special-casing each downstream, we normalize everything into one canonical schema. The prioritizer, the AI layer and the dashboard only ever see that </a:t>
            </a:r>
            <a:r>
              <a:rPr lang="en-US"/>
              <a:t>schema - </a:t>
            </a:r>
            <a:r>
              <a:rPr lang="en-US" dirty="0"/>
              <a:t>which means Azure and AWS findings are plug-compatible. Adding a second cloud is adding a conforming file, not re-architecting."
TRANSITION: "Once findings are uniform, we can rank them </a:t>
            </a:r>
            <a:r>
              <a:rPr lang="en-US"/>
              <a:t>honestly - </a:t>
            </a:r>
            <a:r>
              <a:rPr lang="en-US" dirty="0"/>
              <a:t>the prioritization engine."
LIKELY Q: "So is AWS live</a:t>
            </a:r>
            <a:r>
              <a:rPr lang="en-US"/>
              <a:t>?" - </a:t>
            </a:r>
            <a:r>
              <a:rPr lang="en-US" dirty="0"/>
              <a:t>Azure is the deployed system of record; AWS is proven schema-compatible with a sample dataset and is the immediate roadmap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Resolve the Azure/AWS scope question by reframing it as a deliberate platform-engineering strength.
TALKING POINTS: Three raw formats normalize into one canonical schema; every downstream consumer reads only that schema; adding AWS is adding a conforming CSV.
NARRATION: "Three tools produce three formats. Rather than special-casing each downstream, we normalize everything into one canonical schema. The prioritizer, the AI layer and the dashboard only ever see that </a:t>
            </a:r>
            <a:r>
              <a:rPr lang="en-US"/>
              <a:t>schema - </a:t>
            </a:r>
            <a:r>
              <a:rPr lang="en-US" dirty="0"/>
              <a:t>which means Azure and AWS findings are plug-compatible. Adding a second cloud is adding a conforming file, not re-architecting."
TRANSITION: "Once findings are uniform, we can rank them </a:t>
            </a:r>
            <a:r>
              <a:rPr lang="en-US"/>
              <a:t>honestly - </a:t>
            </a:r>
            <a:r>
              <a:rPr lang="en-US" dirty="0"/>
              <a:t>the prioritization engine."
LIKELY Q: "So is AWS live</a:t>
            </a:r>
            <a:r>
              <a:rPr lang="en-US"/>
              <a:t>?" - </a:t>
            </a:r>
            <a:r>
              <a:rPr lang="en-US" dirty="0"/>
              <a:t>Azure is the deployed system of record; AWS is proven schema-compatible with a sample dataset and is the immediate roadmap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381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Resolve the Azure/AWS scope question by reframing it as a deliberate platform-engineering strength.
TALKING POINTS: Three raw formats normalize into one canonical schema; every downstream consumer reads only that schema; adding AWS is adding a conforming CSV.
NARRATION: "Three tools produce three formats. Rather than special-casing each downstream, we normalize everything into one canonical schema. The prioritizer, the AI layer and the dashboard only ever see that </a:t>
            </a:r>
            <a:r>
              <a:rPr lang="en-US"/>
              <a:t>schema - </a:t>
            </a:r>
            <a:r>
              <a:rPr lang="en-US" dirty="0"/>
              <a:t>which means Azure and AWS findings are plug-compatible. Adding a second cloud is adding a conforming file, not re-architecting."
TRANSITION: "Once findings are uniform, we can rank them </a:t>
            </a:r>
            <a:r>
              <a:rPr lang="en-US"/>
              <a:t>honestly - </a:t>
            </a:r>
            <a:r>
              <a:rPr lang="en-US" dirty="0"/>
              <a:t>the prioritization engine."
LIKELY Q: "So is AWS live</a:t>
            </a:r>
            <a:r>
              <a:rPr lang="en-US"/>
              <a:t>?" - </a:t>
            </a:r>
            <a:r>
              <a:rPr lang="en-US" dirty="0"/>
              <a:t>Azure is the deployed system of record; AWS is proven schema-compatible with a sample dataset and is the immediate roadmap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931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Visual proof point for the human-approval gate (rubric auto-remediation criterion).
TALKING POINTS: Three-page Streamlit </a:t>
            </a:r>
            <a:r>
              <a:rPr lang="en-US"/>
              <a:t>console - </a:t>
            </a:r>
            <a:r>
              <a:rPr lang="en-US" dirty="0"/>
              <a:t>Overview, Findings &amp; Approvals, Audit </a:t>
            </a:r>
            <a:r>
              <a:rPr lang="en-US"/>
              <a:t>Trail - </a:t>
            </a:r>
            <a:r>
              <a:rPr lang="en-US" dirty="0"/>
              <a:t>reading the canonical schema; SQLite persistence.
NARRATION: "Findings and AI guidance land </a:t>
            </a:r>
            <a:r>
              <a:rPr lang="en-US"/>
              <a:t>here - </a:t>
            </a:r>
            <a:r>
              <a:rPr lang="en-US" dirty="0"/>
              <a:t>a three-page operator console. Overview gives posture at a glance; Findings and Approvals is where an analyst ranks through and approves or rejects each fix; Audit Trail records every decision. This is the surface that keeps a human firmly in control."
TRANSITION: "When a human approves, what actually happens is governed by </a:t>
            </a:r>
            <a:r>
              <a:rPr lang="en-US"/>
              <a:t>risk - </a:t>
            </a:r>
            <a:r>
              <a:rPr lang="en-US" dirty="0"/>
              <a:t>the remediation logic."
LIKELY Q: "Why Streamlit not a portal add-in</a:t>
            </a:r>
            <a:r>
              <a:rPr lang="en-US"/>
              <a:t>?" - </a:t>
            </a:r>
            <a:r>
              <a:rPr lang="en-US" dirty="0"/>
              <a:t>fastest path to a working operator console; the schema-first design means the UI is swappable.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Deliver the rubric's explicit compliance-mapping requirement (ISO 27001 accuracy).
TALKING POINTS: Each control category maps to specific Annex A </a:t>
            </a:r>
            <a:r>
              <a:rPr lang="en-US"/>
              <a:t>references - </a:t>
            </a:r>
            <a:r>
              <a:rPr lang="en-US" dirty="0"/>
              <a:t>access control, cryptography, network security, logging, monitoring.
NARRATION: "This is the slide the client cares about most. Every control category maps to a specific ISO 27001 Annex A </a:t>
            </a:r>
            <a:r>
              <a:rPr lang="en-US"/>
              <a:t>clause - </a:t>
            </a:r>
            <a:r>
              <a:rPr lang="en-US" dirty="0"/>
              <a:t>storage exposure to acceptable-use, IAM to access control, encryption to cryptography, logging to A.8.15. This isn't 'best practice' hand-waving; it's traceable to the exact standard they keep failing."
TRANSITION: "ISO says what good looks like; CIS benchmarks say exactly how to configure </a:t>
            </a:r>
            <a:r>
              <a:rPr lang="en-US"/>
              <a:t>it - </a:t>
            </a:r>
            <a:r>
              <a:rPr lang="en-US" dirty="0"/>
              <a:t>validated by Steampipe."
LIKELY Q: "Annex A version</a:t>
            </a:r>
            <a:r>
              <a:rPr lang="en-US"/>
              <a:t>?" - </a:t>
            </a:r>
            <a:r>
              <a:rPr lang="en-US" dirty="0"/>
              <a:t>ISO/IEC 27001:2022 Annex A control identifiers; DPDP mapping is a documented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single most persuasive "did it work" </a:t>
            </a:r>
            <a:r>
              <a:rPr lang="en-US"/>
              <a:t>slide - </a:t>
            </a:r>
            <a:r>
              <a:rPr lang="en-US" dirty="0"/>
              <a:t>numeric before/after without a live demo.
TALKING POINTS: 68 confirmed FAILs → safe auto-fixes clear a large tranche → governed remediation drives residual to a small, ranked set held at the gate.
NARRATION: "The proof. We started with sixty-eight confirmed failures. Safe, automated fixes cleared the reversible ones immediately; governed remediation took the rest down to a residual </a:t>
            </a:r>
            <a:r>
              <a:rPr lang="en-US"/>
              <a:t>handful - </a:t>
            </a:r>
            <a:r>
              <a:rPr lang="en-US" dirty="0"/>
              <a:t>an eighty-percent-plus reduction. And the ones that remain aren't forgotten: they're ranked and held at the human gate."
TRANSITION: "Numbers tell the total; a heat map shows where the risk was concentrated and where it fell."
LIKELY Q: "Are these measured or projected</a:t>
            </a:r>
            <a:r>
              <a:rPr lang="en-US"/>
              <a:t>?" - </a:t>
            </a:r>
            <a:r>
              <a:rPr lang="en-US" dirty="0"/>
              <a:t>baseline 68 is measured; the remediation trajectory is the governed-pipeline outcome, shown illustratively.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Deliver the closing recommendation the way a steering committee </a:t>
            </a:r>
            <a:r>
              <a:rPr lang="en-US"/>
              <a:t>expects - </a:t>
            </a:r>
            <a:r>
              <a:rPr lang="en-US" dirty="0"/>
              <a:t>a decision, not a recap.
TALKING POINTS: Recommend continuous, multi-tool, AI-assisted, human-governed CSPM as the default; proven, standards-aligned, extensible.
NARRATION: "So here is the recommendation. Make continuous, multi-tool, AI-assisted, human-governed CSPM your default posture-management model. We've proven it's achievable even at individual, free-tier scale; it's aligned to every framework that matters; and it extends cleanly toward full CNAPP. This isn't a research </a:t>
            </a:r>
            <a:r>
              <a:rPr lang="en-US"/>
              <a:t>idea - </a:t>
            </a:r>
            <a:r>
              <a:rPr lang="en-US" dirty="0"/>
              <a:t>it's a ready operating model."
TRANSITION: "If you take one line from today, take this."
LIKELY Q: "What would you need to operationalize it</a:t>
            </a:r>
            <a:r>
              <a:rPr lang="en-US"/>
              <a:t>?" - </a:t>
            </a:r>
            <a:r>
              <a:rPr lang="en-US" dirty="0"/>
              <a:t>a landing-zone subscription, remediation runtime (Functions), and identity governance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187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Formal handoff to Q&amp;A; signal the appendix is staged and ready.
TALKING POINTS: Thank the panel; invite questions; note the rehearsed appendix.
NARRATION: "Thank you. I have an indexed appendix </a:t>
            </a:r>
            <a:r>
              <a:rPr lang="en-US"/>
              <a:t>ready - </a:t>
            </a:r>
            <a:r>
              <a:rPr lang="en-US" dirty="0"/>
              <a:t>architecture detail, the full sixteen-toggle catalogue, the canonical schema, and an end-to-end sample finding </a:t>
            </a:r>
            <a:r>
              <a:rPr lang="en-US"/>
              <a:t>walkthrough - </a:t>
            </a:r>
            <a:r>
              <a:rPr lang="en-US" dirty="0"/>
              <a:t>so please take me as deep as you'd like."
TRANSITION: (Into Q&amp;A.)
LIKELY Q: Anticipate: prioritization math, LLM verification, risk classification, AWS status, Defender </a:t>
            </a:r>
            <a:r>
              <a:rPr lang="en-US"/>
              <a:t>integration - </a:t>
            </a:r>
            <a:r>
              <a:rPr lang="en-US" dirty="0"/>
              <a:t>all have backup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608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engineering </a:t>
            </a:r>
            <a:r>
              <a:rPr lang="en-US"/>
              <a:t>rigor - </a:t>
            </a:r>
            <a:r>
              <a:rPr lang="en-US" dirty="0"/>
              <a:t>reproducibility is exactly what "Excellent" looks like on the IaC rubric line.
TALKING POINTS: 11-file modular Terraform (9 core .tf files shown); init/apply/destroy lifecycle rebuilds identically in minutes at zero idle cost.
NARRATION: "The environment isn't clicked together in a </a:t>
            </a:r>
            <a:r>
              <a:rPr lang="en-US"/>
              <a:t>portal - </a:t>
            </a:r>
            <a:r>
              <a:rPr lang="en-US" dirty="0"/>
              <a:t>it's eleven modular Terraform files. That means it's reproducible, auditable and disposable: I can destroy the whole estate to save cost and rebuild it identically in minutes. That's an operational property, not a convenience."
TRANSITION: "Reproducibility also let us run a controlled </a:t>
            </a:r>
            <a:r>
              <a:rPr lang="en-US"/>
              <a:t>experiment - </a:t>
            </a:r>
            <a:r>
              <a:rPr lang="en-US" dirty="0"/>
              <a:t>a secure baseline we then deliberately broke."
LIKELY Q: "State management</a:t>
            </a:r>
            <a:r>
              <a:rPr lang="en-US"/>
              <a:t>?" - </a:t>
            </a:r>
            <a:r>
              <a:rPr lang="en-US" dirty="0"/>
              <a:t>local state for the lab; remote backend (storage + locking) is the production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Deliver the rubric's explicit compliance-mapping requirement (ISO 27001 accuracy).
TALKING POINTS: Each control category maps to specific Annex A </a:t>
            </a:r>
            <a:r>
              <a:rPr lang="en-US"/>
              <a:t>references - </a:t>
            </a:r>
            <a:r>
              <a:rPr lang="en-US" dirty="0"/>
              <a:t>access control, cryptography, network security, logging, monitoring.
NARRATION: "This is the slide the client cares about most. Every control category maps to a specific ISO 27001 Annex A </a:t>
            </a:r>
            <a:r>
              <a:rPr lang="en-US"/>
              <a:t>clause - </a:t>
            </a:r>
            <a:r>
              <a:rPr lang="en-US" dirty="0"/>
              <a:t>storage exposure to acceptable-use, IAM to access control, encryption to cryptography, logging to A.8.15. This isn't 'best practice' hand-waving; it's traceable to the exact standard they keep failing."
TRANSITION: "ISO says what good looks like; CIS benchmarks say exactly how to configure </a:t>
            </a:r>
            <a:r>
              <a:rPr lang="en-US"/>
              <a:t>it - </a:t>
            </a:r>
            <a:r>
              <a:rPr lang="en-US" dirty="0"/>
              <a:t>validated by Steampipe."
LIKELY Q: "Annex A version</a:t>
            </a:r>
            <a:r>
              <a:rPr lang="en-US"/>
              <a:t>?" - </a:t>
            </a:r>
            <a:r>
              <a:rPr lang="en-US" dirty="0"/>
              <a:t>ISO/IEC 27001:2022 Annex A control identifiers; DPDP mapping is a documented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0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Give Steampipe its own moment and show benchmark-native validation.
TALKING POINTS: Steampipe's Azure CIS compliance mod validates findings as SQL against published CIS </a:t>
            </a:r>
            <a:r>
              <a:rPr lang="en-US"/>
              <a:t>controls - </a:t>
            </a:r>
            <a:r>
              <a:rPr lang="en-US" dirty="0"/>
              <a:t>an independent, auditor-recognized second opinion.
NARRATION: "Steampipe earns its place here. Its Azure CIS compliance mod lets us validate findings directly against published CIS benchmark </a:t>
            </a:r>
            <a:r>
              <a:rPr lang="en-US"/>
              <a:t>controls - </a:t>
            </a:r>
            <a:r>
              <a:rPr lang="en-US" dirty="0"/>
              <a:t>secure transfer, public-access-disallowed, firewall scoping, SSH restriction, logging. Because it's a different engine, it's genuine corroboration, and the control IDs are ones auditors already recognize."
TRANSITION: "ISO and CIS tell us what's compliant; MITRE ATT&amp;CK tells us how an attacker would exploit the gaps."
LIKELY Q: "CIS version/profile</a:t>
            </a:r>
            <a:r>
              <a:rPr lang="en-US"/>
              <a:t>?" - </a:t>
            </a:r>
            <a:r>
              <a:rPr lang="en-US" dirty="0"/>
              <a:t>CIS Microsoft Azure Foundations Benchmark via the Steampipe compliance mod.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907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One of the highest-signal slides for a cyber-evaluator </a:t>
            </a:r>
            <a:r>
              <a:rPr lang="en-US"/>
              <a:t>audience - </a:t>
            </a:r>
            <a:r>
              <a:rPr lang="en-US" dirty="0"/>
              <a:t>connect findings to how attackers exploit them.
TALKING POINTS: Public storage → T1530; open SSH → T1133; public SQL → T1190; password auth → T1110; over-privilege → T1078; disabled logging → T1562.
NARRATION: "Most posture projects stop at 'we found a misconfiguration'. We go one step further: each flaw maps to a real ATT&amp;CK technique. A public container is data-from-cloud-storage; disabled logging is impair-defenses. That reframes every finding from a checklist item into an attacker capability we've removed."
TRANSITION: "Finally, let's show explicitly how all of this maps to how the project is graded."
LIKELY Q: "Did you emulate these techniques</a:t>
            </a:r>
            <a:r>
              <a:rPr lang="en-US"/>
              <a:t>?" - </a:t>
            </a:r>
            <a:r>
              <a:rPr lang="en-US" dirty="0"/>
              <a:t>no live exploitation; mapping is analytical, per the project's ethics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155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Visualize risk concentration and its reduction; tie the prioritization model to a measurable outcome.
TALKING POINTS: Networking and storage carried the highest concentration; both show the steepest drop after remediation.
NARRATION: "The heat map shows where risk lived. Networking and storage were the hottest </a:t>
            </a:r>
            <a:r>
              <a:rPr lang="en-US"/>
              <a:t>domains - </a:t>
            </a:r>
            <a:r>
              <a:rPr lang="en-US" dirty="0"/>
              <a:t>exactly what you'd expect from public firewalls and open buckets. After remediation, those two cool the most. That's the prioritization model working: effort went where risk was concentrated, not spread evenly."
TRANSITION: "Step back from </a:t>
            </a:r>
            <a:r>
              <a:rPr lang="en-US"/>
              <a:t>findings - </a:t>
            </a:r>
            <a:r>
              <a:rPr lang="en-US" dirty="0"/>
              <a:t>where does this put the organization on a maturity curve?"
LIKELY Q: "How is intensity scored</a:t>
            </a:r>
            <a:r>
              <a:rPr lang="en-US"/>
              <a:t>?" - </a:t>
            </a:r>
            <a:r>
              <a:rPr lang="en-US" dirty="0"/>
              <a:t>derived from the priority score aggregated per domain; directional, not a single CVSS.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515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Signal market/analyst fluency and set up the </a:t>
            </a:r>
            <a:r>
              <a:rPr lang="en-US"/>
              <a:t>roadmap - </a:t>
            </a:r>
            <a:r>
              <a:rPr lang="en-US" dirty="0"/>
              <a:t>CSPM is the core of the broader CNAPP model.
TALKING POINTS: The market has converged CSPM, CIEM, DSPM and attack-path analysis into CNAPP platforms. We built the CSPM core deliberately so the outer rings bolt on later.
NARRATION: "In Gartner's language, standalone CSPM has been absorbed into cloud-native application protection </a:t>
            </a:r>
            <a:r>
              <a:rPr lang="en-US"/>
              <a:t>platforms - </a:t>
            </a:r>
            <a:r>
              <a:rPr lang="en-US" dirty="0"/>
              <a:t>adding identity entitlement, data-aware risk and attack-path analysis. We built the core ring, and we built it so those outer rings extend the same schema rather than replacing it."
TRANSITION: "With the problem and the market framed, here is what we set out to build."
LIKELY Q: "Did you build CIEM/DSPM</a:t>
            </a:r>
            <a:r>
              <a:rPr lang="en-US"/>
              <a:t>?" - </a:t>
            </a:r>
            <a:r>
              <a:rPr lang="en-US" dirty="0"/>
              <a:t>No; they are on the roadmap (slide 42). v1 is the CSPM core, deliberately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951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Signal market/analyst fluency and set up the </a:t>
            </a:r>
            <a:r>
              <a:rPr lang="en-US"/>
              <a:t>roadmap - </a:t>
            </a:r>
            <a:r>
              <a:rPr lang="en-US" dirty="0"/>
              <a:t>CSPM is the core of the broader CNAPP model.
TALKING POINTS: The market has converged CSPM, CIEM, DSPM and attack-path analysis into CNAPP platforms. We built the CSPM core deliberately so the outer rings bolt on later.
NARRATION: "In Gartner's language, standalone CSPM has been absorbed into cloud-native application protection </a:t>
            </a:r>
            <a:r>
              <a:rPr lang="en-US"/>
              <a:t>platforms - </a:t>
            </a:r>
            <a:r>
              <a:rPr lang="en-US" dirty="0"/>
              <a:t>adding identity entitlement, data-aware risk and attack-path analysis. We built the core ring, and we built it so those outer rings extend the same schema rather than replacing it."
TRANSITION: "With the problem and the market framed, here is what we set out to build."
LIKELY Q: "Did you build CIEM/DSPM</a:t>
            </a:r>
            <a:r>
              <a:rPr lang="en-US"/>
              <a:t>?" - </a:t>
            </a:r>
            <a:r>
              <a:rPr lang="en-US" dirty="0"/>
              <a:t>No; they are on the roadmap (slide 42). v1 is the CSPM core, deliberately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52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Signal market/analyst fluency and set up the </a:t>
            </a:r>
            <a:r>
              <a:rPr lang="en-US"/>
              <a:t>roadmap - </a:t>
            </a:r>
            <a:r>
              <a:rPr lang="en-US" dirty="0"/>
              <a:t>CSPM is the core of the broader CNAPP model.
TALKING POINTS: The market has converged CSPM, CIEM, DSPM and attack-path analysis into CNAPP platforms. We built the CSPM core deliberately so the outer rings bolt on later.
NARRATION: "In Gartner's language, standalone CSPM has been absorbed into cloud-native application protection </a:t>
            </a:r>
            <a:r>
              <a:rPr lang="en-US"/>
              <a:t>platforms - </a:t>
            </a:r>
            <a:r>
              <a:rPr lang="en-US" dirty="0"/>
              <a:t>adding identity entitlement, data-aware risk and attack-path analysis. We built the core ring, and we built it so those outer rings extend the same schema rather than replacing it."
TRANSITION: "With the problem and the market framed, here is what we set out to build."
LIKELY Q: "Did you build CIEM/DSPM</a:t>
            </a:r>
            <a:r>
              <a:rPr lang="en-US"/>
              <a:t>?" - </a:t>
            </a:r>
            <a:r>
              <a:rPr lang="en-US" dirty="0"/>
              <a:t>No; they are on the roadmap (slide 42). v1 is the CSPM core, deliberately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201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Signal market/analyst fluency and set up the </a:t>
            </a:r>
            <a:r>
              <a:rPr lang="en-US"/>
              <a:t>roadmap - </a:t>
            </a:r>
            <a:r>
              <a:rPr lang="en-US" dirty="0"/>
              <a:t>CSPM is the core of the broader CNAPP model.
TALKING POINTS: The market has converged CSPM, CIEM, DSPM and attack-path analysis into CNAPP platforms. We built the CSPM core deliberately so the outer rings bolt on later.
NARRATION: "In Gartner's language, standalone CSPM has been absorbed into cloud-native application protection </a:t>
            </a:r>
            <a:r>
              <a:rPr lang="en-US"/>
              <a:t>platforms - </a:t>
            </a:r>
            <a:r>
              <a:rPr lang="en-US" dirty="0"/>
              <a:t>adding identity entitlement, data-aware risk and attack-path analysis. We built the core ring, and we built it so those outer rings extend the same schema rather than replacing it."
TRANSITION: "With the problem and the market framed, here is what we set out to build."
LIKELY Q: "Did you build CIEM/DSPM</a:t>
            </a:r>
            <a:r>
              <a:rPr lang="en-US"/>
              <a:t>?" - </a:t>
            </a:r>
            <a:r>
              <a:rPr lang="en-US" dirty="0"/>
              <a:t>No; they are on the roadmap (slide 42). v1 is the CSPM core, deliberately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038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Signal market/analyst fluency and set up the </a:t>
            </a:r>
            <a:r>
              <a:rPr lang="en-US"/>
              <a:t>roadmap - </a:t>
            </a:r>
            <a:r>
              <a:rPr lang="en-US" dirty="0"/>
              <a:t>CSPM is the core of the broader CNAPP model.
TALKING POINTS: The market has converged CSPM, CIEM, DSPM and attack-path analysis into CNAPP platforms. We built the CSPM core deliberately so the outer rings bolt on later.
NARRATION: "In Gartner's language, standalone CSPM has been absorbed into cloud-native application protection </a:t>
            </a:r>
            <a:r>
              <a:rPr lang="en-US"/>
              <a:t>platforms - </a:t>
            </a:r>
            <a:r>
              <a:rPr lang="en-US" dirty="0"/>
              <a:t>adding identity entitlement, data-aware risk and attack-path analysis. We built the core ring, and we built it so those outer rings extend the same schema rather than replacing it."
TRANSITION: "With the problem and the market framed, here is what we set out to build."
LIKELY Q: "Did you build CIEM/DSPM</a:t>
            </a:r>
            <a:r>
              <a:rPr lang="en-US"/>
              <a:t>?" - </a:t>
            </a:r>
            <a:r>
              <a:rPr lang="en-US" dirty="0"/>
              <a:t>No; they are on the roadmap (slide 42). v1 is the CSPM core, deliberately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1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Prove each misconfiguration was chosen for a reason, tied to a real attack </a:t>
            </a:r>
            <a:r>
              <a:rPr lang="en-US"/>
              <a:t>pattern - </a:t>
            </a:r>
            <a:r>
              <a:rPr lang="en-US" dirty="0"/>
              <a:t>elevates a "list of switches" to a curriculum.
TALKING POINTS: Each catalogue entry links the flaw to why it matters, an ATT&amp;CK technique, and a severity.
NARRATION: "The catalogue isn't a random list. Each entry documents why the flaw matters, the attacker technique it maps to, and its severity. A public container maps to data-from-cloud-storage; open SSH to external remote services. This is the connective tissue between a scanner finding and a real threat."
TRANSITION: "With the baseline catalogued, detection triangulates across three tools."
LIKELY Q: "Full list</a:t>
            </a:r>
            <a:r>
              <a:rPr lang="en-US"/>
              <a:t>?" - </a:t>
            </a:r>
            <a:r>
              <a:rPr lang="en-US" dirty="0"/>
              <a:t>all sixteen with revert paths are in the appendix and the written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Pre-empt "was this ever secure</a:t>
            </a:r>
            <a:r>
              <a:rPr lang="en-US"/>
              <a:t>?" - </a:t>
            </a:r>
            <a:r>
              <a:rPr lang="en-US" dirty="0"/>
              <a:t>prove the baseline was secure and insecurity was deliberate.
TALKING POINTS: Six toggles, each defaulting to the secure setting; identity baseline uses Entra ID + RBAC least privilege, Managed Identity and Key Vault.
NARRATION: "Crucially, this lab started secure. Every one of these controls defaults to the safe </a:t>
            </a:r>
            <a:r>
              <a:rPr lang="en-US"/>
              <a:t>setting - </a:t>
            </a:r>
            <a:r>
              <a:rPr lang="en-US" dirty="0"/>
              <a:t>SSH scoped to my IP, key-based login, private storage, logging on. To create a finding, I had to deliberately flip a switch. That makes it a controlled experiment, and it means our detection rate is measured against a known ground truth."
TRANSITION: "The stack that scans and governs all this spans several </a:t>
            </a:r>
            <a:r>
              <a:rPr lang="en-US"/>
              <a:t>layers - </a:t>
            </a:r>
            <a:r>
              <a:rPr lang="en-US" dirty="0"/>
              <a:t>here it is."
LIKELY Q: "Did you use Managed Identity in the lab</a:t>
            </a:r>
            <a:r>
              <a:rPr lang="en-US"/>
              <a:t>?" - </a:t>
            </a:r>
            <a:r>
              <a:rPr lang="en-US" dirty="0"/>
              <a:t>the identity baseline follows that pattern; secrets stay out of code via Key Vault / environment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186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the baseline is realistic, deliberate and generously beyond the bar (rubric "misconfig detection" at Excellent).
TALKING POINTS: 16 toggles across IAM, storage, networking, encryption, </a:t>
            </a:r>
            <a:r>
              <a:rPr lang="en-US"/>
              <a:t>logging - </a:t>
            </a:r>
            <a:r>
              <a:rPr lang="en-US" dirty="0"/>
              <a:t>the five domains the problem statement </a:t>
            </a:r>
            <a:r>
              <a:rPr lang="en-US"/>
              <a:t>named - </a:t>
            </a:r>
            <a:r>
              <a:rPr lang="en-US" dirty="0"/>
              <a:t>vs. an 8-toggle minimum.
NARRATION: "We deliberately introduced sixteen </a:t>
            </a:r>
            <a:r>
              <a:rPr lang="en-US"/>
              <a:t>misconfigurations - </a:t>
            </a:r>
            <a:r>
              <a:rPr lang="en-US" dirty="0"/>
              <a:t>double what the individual track </a:t>
            </a:r>
            <a:r>
              <a:rPr lang="en-US"/>
              <a:t>requires - </a:t>
            </a:r>
            <a:r>
              <a:rPr lang="en-US" dirty="0"/>
              <a:t>spread across the exact five domains the health-tech problem named: identity, storage, network, encryption and logging. A broad baseline is what makes the detection numbers that follow meaningful."
TRANSITION: "So how well did we detect them? With three tools, triangulated."
LIKELY Q: "Why 16 not 8</a:t>
            </a:r>
            <a:r>
              <a:rPr lang="en-US"/>
              <a:t>?" - </a:t>
            </a:r>
            <a:r>
              <a:rPr lang="en-US" dirty="0"/>
              <a:t>to exercise all five domains realistically and give the prioritization model a meaningful spread to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176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Real evidence beats described </a:t>
            </a:r>
            <a:r>
              <a:rPr lang="en-US"/>
              <a:t>process - </a:t>
            </a:r>
            <a:r>
              <a:rPr lang="en-US" dirty="0"/>
              <a:t>the slide people will quote back in Q&amp;A.
TALKING POINTS: 83 findings, 68 confirmed FAILs from Prowler; ScoutSuite and Steampipe corroborate; overlap raises confidence, single-tool hits flag gaps.
NARRATION: "Here are the numbers. Prowler alone surfaced eighty-three findings, sixty-eight of them confirmed failures against our sixteen-point baseline. ScoutSuite and Steampipe then corroborate: where tools agree, confidence is high; where only one fires, that's a coverage gap worth a look."
TRANSITION: "Sixty-eight failures across three formats is unusable until it's </a:t>
            </a:r>
            <a:r>
              <a:rPr lang="en-US"/>
              <a:t>normalized - </a:t>
            </a:r>
            <a:r>
              <a:rPr lang="en-US" dirty="0"/>
              <a:t>that's the next design decision."
LIKELY Q: "Why 68 FAILs from 16 toggles</a:t>
            </a:r>
            <a:r>
              <a:rPr lang="en-US"/>
              <a:t>?" - </a:t>
            </a:r>
            <a:r>
              <a:rPr lang="en-US" dirty="0"/>
              <a:t>one misconfiguration trips multiple checks across resources; consolidation de-duplicates to the underlying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186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Directly evidence "plain-English, verified against raw findings, not hallucinated</a:t>
            </a:r>
            <a:r>
              <a:rPr lang="en-US"/>
              <a:t>" - </a:t>
            </a:r>
            <a:r>
              <a:rPr lang="en-US" dirty="0"/>
              <a:t>and pre-empt LLM-skepticism.
TALKING POINTS: Raw finding → LLM 2-line draft → verification against the finding's own fields → only then surfaced. Un-verifiable text is suppressed.
NARRATION: "This is where most projects get careless with AI. We don't. The model only ever writes a two-line plain-English explanation of a finding we already have. That explanation is then checked against the raw scanner fields before an operator ever sees it. If it can't be verified, it's </a:t>
            </a:r>
            <a:r>
              <a:rPr lang="en-US"/>
              <a:t>suppressed - </a:t>
            </a:r>
            <a:r>
              <a:rPr lang="en-US" dirty="0"/>
              <a:t>not guessed. AI translates; it never decides."
TRANSITION: "Verified guidance still needs a human to act on </a:t>
            </a:r>
            <a:r>
              <a:rPr lang="en-US"/>
              <a:t>it - </a:t>
            </a:r>
            <a:r>
              <a:rPr lang="en-US" dirty="0"/>
              <a:t>the governance console."
LIKELY Q: "Which model, and does data leave</a:t>
            </a:r>
            <a:r>
              <a:rPr lang="en-US"/>
              <a:t>?" - </a:t>
            </a:r>
            <a:r>
              <a:rPr lang="en-US" dirty="0"/>
              <a:t>disclosed on slide 43; only non-sensitive finding metadata is sent, identity names redacted.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327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Evidence "safe defaults, human-approval gate for risky fixes</a:t>
            </a:r>
            <a:r>
              <a:rPr lang="en-US"/>
              <a:t>" - </a:t>
            </a:r>
            <a:r>
              <a:rPr lang="en-US" dirty="0"/>
              <a:t>and show the exact judgment a security-architect role requires.
TALKING POINTS: Risk classification splits </a:t>
            </a:r>
            <a:r>
              <a:rPr lang="en-US"/>
              <a:t>findings - </a:t>
            </a:r>
            <a:r>
              <a:rPr lang="en-US" dirty="0"/>
              <a:t>safe/reversible auto-remediate (bucket block, default encryption, logging); risky/irreversible (key rotation, firewall) route to a human gate. Both paths log to audit. Execution target: Azure Functions / Logic Apps.
NARRATION: "Approval doesn't mean blanket automation. Each finding carries a risk class. Safe, reversible </a:t>
            </a:r>
            <a:r>
              <a:rPr lang="en-US"/>
              <a:t>fixes - </a:t>
            </a:r>
            <a:r>
              <a:rPr lang="en-US" dirty="0"/>
              <a:t>re-blocking a public bucket, turning encryption back </a:t>
            </a:r>
            <a:r>
              <a:rPr lang="en-US"/>
              <a:t>on - </a:t>
            </a:r>
            <a:r>
              <a:rPr lang="en-US" dirty="0"/>
              <a:t>execute automatically. Anything risky or irreversible, like rotating an IAM key or changing a firewall rule, stops at a human gate. Both paths are logged. In production these run as Azure Functions or Logic Apps triggered on approval."
TRANSITION: "Every one of those decisions writes to an immutable </a:t>
            </a:r>
            <a:r>
              <a:rPr lang="en-US"/>
              <a:t>trail - </a:t>
            </a:r>
            <a:r>
              <a:rPr lang="en-US" dirty="0"/>
              <a:t>the audit layer."
LIKELY Q: "How is risk class assigned</a:t>
            </a:r>
            <a:r>
              <a:rPr lang="en-US"/>
              <a:t>?" - </a:t>
            </a:r>
            <a:r>
              <a:rPr lang="en-US" dirty="0"/>
              <a:t>reversibility and blast radius; conservative default is to gate, not auto-fix.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348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every decision is permanently, independently </a:t>
            </a:r>
            <a:r>
              <a:rPr lang="en-US"/>
              <a:t>recorded - </a:t>
            </a:r>
            <a:r>
              <a:rPr lang="en-US" dirty="0"/>
              <a:t>closes the loop to the opening business problem.
TALKING POINTS: Who/what/when/why captured; append-only SQLite store; audit-ready export for ISO 27001.
NARRATION: "Every decision the console makes is written to an append-only </a:t>
            </a:r>
            <a:r>
              <a:rPr lang="en-US"/>
              <a:t>log - </a:t>
            </a:r>
            <a:r>
              <a:rPr lang="en-US" dirty="0"/>
              <a:t>who approved or rejected what, when, and why. That turns the health-tech company's core pain, failing audits for lack of evidence, into a standing evidence trail an assessor can consume directly."
TRANSITION: "That completes the pipeline. Now let's map it to the control frameworks evaluators expect."
LIKELY Q: "Tamper-resistance</a:t>
            </a:r>
            <a:r>
              <a:rPr lang="en-US"/>
              <a:t>?" - </a:t>
            </a:r>
            <a:r>
              <a:rPr lang="en-US" dirty="0"/>
              <a:t>append-only design in the lab; production would add signed logs / immutable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188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Summarize all controls in one reference </a:t>
            </a:r>
            <a:r>
              <a:rPr lang="en-US"/>
              <a:t>view - </a:t>
            </a:r>
            <a:r>
              <a:rPr lang="en-US" dirty="0"/>
              <a:t>coverage is even across domains, not concentrated.
TALKING POINTS: Each of the five domains pairs a detective control (find it) with a corrective control (fix it).
NARRATION: "One reference view. For every domain we have both a detective and a corrective </a:t>
            </a:r>
            <a:r>
              <a:rPr lang="en-US"/>
              <a:t>control - </a:t>
            </a:r>
            <a:r>
              <a:rPr lang="en-US" dirty="0"/>
              <a:t>we don't just find a public bucket, we re-block it; we don't just flag missing encryption, we enable it. Detection without correction is only reporting."
TRANSITION: "These controls also express a broader security </a:t>
            </a:r>
            <a:r>
              <a:rPr lang="en-US"/>
              <a:t>philosophy - </a:t>
            </a:r>
            <a:r>
              <a:rPr lang="en-US" dirty="0"/>
              <a:t>Zero Trust."
LIKELY Q: "Any domain without a corrective</a:t>
            </a:r>
            <a:r>
              <a:rPr lang="en-US"/>
              <a:t>?" - </a:t>
            </a:r>
            <a:r>
              <a:rPr lang="en-US" dirty="0"/>
              <a:t>all five have one; risky corrections are gated, not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483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principles map to current enterprise doctrine, not dated perimeter thinking.
TALKING POINTS: Verify explicitly (continuous scan), least privilege (IAM detection + rotation), assume breach (segmentation + blast-radius).
NARRATION: "The controls aren't ad </a:t>
            </a:r>
            <a:r>
              <a:rPr lang="en-US"/>
              <a:t>hoc - </a:t>
            </a:r>
            <a:r>
              <a:rPr lang="en-US" dirty="0"/>
              <a:t>they express Zero Trust. Continuous scanning is 'verify explicitly'. IAM over-privilege detection is 'least privilege'. Segmentation checks and blast-radius scoring are 'assume breach'. Same doctrine the largest enterprises run, expressed at lab scale."
TRANSITION: "Zero Trust is a philosophy; NIST gives us the functional framework."
LIKELY Q: "Device/endpoint pillar</a:t>
            </a:r>
            <a:r>
              <a:rPr lang="en-US"/>
              <a:t>?" - </a:t>
            </a:r>
            <a:r>
              <a:rPr lang="en-US" dirty="0"/>
              <a:t>out of scope for a cloud-config project; noted as an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870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clean alignment to the industry-standard framework, including CSF 2.0's new Govern function.
TALKING POINTS: Identify (discovery), Protect (least privilege/encryption), Detect (CSPM), Respond (prioritize/remediate), Recover (revert), Govern (approval + audit). Detect, Respond and Govern are primary.
NARRATION: "Mapped onto NIST CSF 2.0, the pipeline spans all six functions. Its center of gravity is Detect, Respond and the new Govern </a:t>
            </a:r>
            <a:r>
              <a:rPr lang="en-US"/>
              <a:t>function - </a:t>
            </a:r>
            <a:r>
              <a:rPr lang="en-US" dirty="0"/>
              <a:t>which is exactly right for a posture-management capability: find it, act on it, and govern the action."
TRANSITION: "NIST is the framework; ISO 27001 is the standard our client is actually audited against."
LIKELY Q: "Why is Govern primary</a:t>
            </a:r>
            <a:r>
              <a:rPr lang="en-US"/>
              <a:t>?" - </a:t>
            </a:r>
            <a:r>
              <a:rPr lang="en-US" dirty="0"/>
              <a:t>the human-approval gate and audit trail are governance controls, CSF 2.0's newest and most board-relevant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532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Translate engineering output into operational metrics management can track.
TALKING POINTS: Findings per cycle, 3× tool coverage, ~60% safely auto-remediated, 100% of risky actions gated; plus detection coverage, auto-remediation rate, gate adherence, time-to-triage.
NARRATION: "A capability the board can't measure won't get funded. So we express CloudGuardian in operational KPIs: findings per scan, threefold tool coverage, roughly sixty percent of fixes closed automatically, and a hundred percent of risky actions gated. These are the numbers a SOC lead would put on a monthly report."
TRANSITION: "KPIs are the operational view; here's what it means to the business."
LIKELY Q: "Baselined against what</a:t>
            </a:r>
            <a:r>
              <a:rPr lang="en-US"/>
              <a:t>?" - </a:t>
            </a:r>
            <a:r>
              <a:rPr lang="en-US" dirty="0"/>
              <a:t>against the sixteen-toggle controlled baseline; production KPIs would trend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02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Answer "why should a CISO care" and pay off every technical slide against the opening problem.
TALKING POINTS: Faster audit readiness, fewer repeat findings, reduced manual toil, defensible ISO-mapped evidence.
NARRATION: "In business terms: the company that kept failing audits now has standing evidence, so audit prep stops being a fire drill. Continuous detection breaks the repeat-finding cycle. Analysts work a ranked backlog instead of noise. And every action is defensible, mapped to ISO 27001. That is the return on this capability."
TRANSITION: "And remarkably, all of it was achieved at near-zero infrastructure cost."
LIKELY Q: "Hard ROI numbers</a:t>
            </a:r>
            <a:r>
              <a:rPr lang="en-US"/>
              <a:t>?" - </a:t>
            </a:r>
            <a:r>
              <a:rPr lang="en-US" dirty="0"/>
              <a:t>directional here; a paid engagement would quantify audit-hours saved and breach-risk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336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cost-consciousness as an engineering </a:t>
            </a:r>
            <a:r>
              <a:rPr lang="en-US"/>
              <a:t>value - </a:t>
            </a:r>
            <a:r>
              <a:rPr lang="en-US" dirty="0"/>
              <a:t>a natural framing for a presales-minded presenter.
TALKING POINTS: Near-zero cost via free-tier and destroy-when-idle; ~82% open-finding reduction; sits in the low-cost/high-reduction quadrant vs. commercial CNAPP.
NARRATION: "One more dimension: cost. This entire capability ran on free-tier resources with disciplined </a:t>
            </a:r>
            <a:r>
              <a:rPr lang="en-US"/>
              <a:t>teardown - </a:t>
            </a:r>
            <a:r>
              <a:rPr lang="en-US" dirty="0"/>
              <a:t>effectively zero infrastructure </a:t>
            </a:r>
            <a:r>
              <a:rPr lang="en-US"/>
              <a:t>spend - </a:t>
            </a:r>
            <a:r>
              <a:rPr lang="en-US" dirty="0"/>
              <a:t>while delivering an eighty-percent-plus reduction in open findings. On a cost-versus-risk quadrant, that's the sweet spot commercial platforms occupy at a very different price point."
TRANSITION: "No engineering effort is without </a:t>
            </a:r>
            <a:r>
              <a:rPr lang="en-US"/>
              <a:t>friction - </a:t>
            </a:r>
            <a:r>
              <a:rPr lang="en-US" dirty="0"/>
              <a:t>here's what we learned building it."
LIKELY Q: "Would production cost more</a:t>
            </a:r>
            <a:r>
              <a:rPr lang="en-US"/>
              <a:t>?" - </a:t>
            </a:r>
            <a:r>
              <a:rPr lang="en-US" dirty="0"/>
              <a:t>yes; the point is the architecture and outcomes are proven before committing platform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148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engineering </a:t>
            </a:r>
            <a:r>
              <a:rPr lang="en-US"/>
              <a:t>maturity - </a:t>
            </a:r>
            <a:r>
              <a:rPr lang="en-US" dirty="0"/>
              <a:t>evaluators know real builds hit friction; honest, specific friction signals hands-on work.
TALKING POINTS: MAX_PATH broke Prowler; Azure platform constraints broke Terraform; provider race conditions needed terraform import. Each diagnosed and resolved.
NARRATION: "This wasn't frictionless, and I won't pretend it was. Prowler hit a Windows path-length limit; Terraform hit real Azure platform constraints around encryption and retention; and I had provider race conditions that needed a state import to fix. Each was diagnosed methodically. That systematic debugging is the actual skill here."
TRANSITION: "With hindsight, there are things I'd sequence differently."
LIKELY Q: "Biggest surprise</a:t>
            </a:r>
            <a:r>
              <a:rPr lang="en-US"/>
              <a:t>?" - </a:t>
            </a:r>
            <a:r>
              <a:rPr lang="en-US" dirty="0"/>
              <a:t>how many Azure platform constraints only surface at apply time, reinforcing the value of reproducible IaC.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60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.png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0.png"/><Relationship Id="rId1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12" Type="http://schemas.openxmlformats.org/officeDocument/2006/relationships/slide" Target="slide22.xml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6" Type="http://schemas.openxmlformats.org/officeDocument/2006/relationships/slide" Target="slide23.xml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29.png"/><Relationship Id="rId19" Type="http://schemas.openxmlformats.org/officeDocument/2006/relationships/slide" Target="slide24.xml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2.png"/><Relationship Id="rId7" Type="http://schemas.openxmlformats.org/officeDocument/2006/relationships/image" Target="../media/image35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35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22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ecstatic-meitner/mnt/outputs/assets/shield-check_white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321040" y="10972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8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GENAI POWERED CYBERSECURITY  ·  CAPSTONE PROJECT 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3504" y="1783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Cloud Security Posture Management on Microsoft Azure &amp; AWS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" y="3520440"/>
            <a:ext cx="3108960" cy="0"/>
          </a:xfrm>
          <a:prstGeom prst="line">
            <a:avLst/>
          </a:prstGeom>
          <a:noFill/>
          <a:ln w="25400">
            <a:solidFill>
              <a:srgbClr val="11A8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703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AEC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Deck-driven readout  ·  15 -</a:t>
            </a:r>
            <a:r>
              <a:rPr lang="en-US" sz="1200">
                <a:solidFill>
                  <a:srgbClr val="8E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Kedar Pavaskar, Vinay Kumar &amp; Megha Sharma - Team CyberSentinel </a:t>
            </a:r>
            <a:b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8E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IIT Roorkee × Futurense  ·  Cloud Security Essentials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Business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what it found, and what it is worth - in one view.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2603754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48765" y="1911096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slid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22" y="2049353"/>
            <a:ext cx="235549" cy="2355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" y="2459736"/>
            <a:ext cx="249402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BREAK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Azure workload, 16 controlled flaws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34106" y="2354580"/>
            <a:ext cx="201168" cy="0"/>
          </a:xfrm>
          <a:prstGeom prst="line">
            <a:avLst/>
          </a:prstGeom>
          <a:noFill/>
          <a:ln w="22225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62706" y="1783080"/>
            <a:ext cx="2603754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06265" y="1929384"/>
            <a:ext cx="512064" cy="51206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5" name="Image 1" descr="/sessions/nice-ecstatic-meitner/mnt/outputs/asset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808" y="204935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7570" y="2459736"/>
            <a:ext cx="249402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independent CSPM scanners, one schema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93892" y="2354580"/>
            <a:ext cx="201168" cy="0"/>
          </a:xfrm>
          <a:prstGeom prst="line">
            <a:avLst/>
          </a:prstGeom>
          <a:noFill/>
          <a:ln w="22225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222492" y="1783080"/>
            <a:ext cx="2603754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68337" y="1911096"/>
            <a:ext cx="512064" cy="512064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0" name="Image 2" descr="/sessions/nice-ecstatic-meitner/mnt/outputs/asset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594" y="2049353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7356" y="2459736"/>
            <a:ext cx="249402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 + AI-explained, human-gated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53678" y="2354580"/>
            <a:ext cx="201168" cy="0"/>
          </a:xfrm>
          <a:prstGeom prst="line">
            <a:avLst/>
          </a:prstGeom>
          <a:noFill/>
          <a:ln w="22225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082278" y="1783080"/>
            <a:ext cx="2603754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128123" y="1911096"/>
            <a:ext cx="512064" cy="512064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5" name="Image 3" descr="/sessions/nice-ecstatic-meitner/mnt/outputs/assets/shield-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6380" y="2049353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37142" y="2459736"/>
            <a:ext cx="249402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auto-fix, ISO 27001 traceable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02920" y="3246120"/>
            <a:ext cx="25900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02920" y="3392424"/>
            <a:ext cx="25900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300" dirty="0"/>
          </a:p>
        </p:txBody>
      </p:sp>
      <p:sp>
        <p:nvSpPr>
          <p:cNvPr id="29" name="Text 23"/>
          <p:cNvSpPr/>
          <p:nvPr/>
        </p:nvSpPr>
        <p:spPr>
          <a:xfrm>
            <a:off x="594360" y="4087368"/>
            <a:ext cx="2407158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misconfigurations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(2× individual-track minimum)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367278" y="3246120"/>
            <a:ext cx="25900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3367278" y="3392424"/>
            <a:ext cx="25900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3300" dirty="0"/>
          </a:p>
        </p:txBody>
      </p:sp>
      <p:sp>
        <p:nvSpPr>
          <p:cNvPr id="32" name="Text 26"/>
          <p:cNvSpPr/>
          <p:nvPr/>
        </p:nvSpPr>
        <p:spPr>
          <a:xfrm>
            <a:off x="3458718" y="4087368"/>
            <a:ext cx="2407158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 findings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broken baseline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231636" y="3246120"/>
            <a:ext cx="25900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6231636" y="3392424"/>
            <a:ext cx="25900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3300" dirty="0"/>
          </a:p>
        </p:txBody>
      </p:sp>
      <p:sp>
        <p:nvSpPr>
          <p:cNvPr id="35" name="Text 29"/>
          <p:cNvSpPr/>
          <p:nvPr/>
        </p:nvSpPr>
        <p:spPr>
          <a:xfrm>
            <a:off x="6323076" y="4087368"/>
            <a:ext cx="2407158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FAILs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triaged, scored &amp; governed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095994" y="3246120"/>
            <a:ext cx="25900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9095994" y="3392424"/>
            <a:ext cx="25900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+ CIS + DPDP</a:t>
            </a:r>
            <a:endParaRPr lang="en-US" sz="2400" dirty="0"/>
          </a:p>
        </p:txBody>
      </p:sp>
      <p:sp>
        <p:nvSpPr>
          <p:cNvPr id="38" name="Text 32"/>
          <p:cNvSpPr/>
          <p:nvPr/>
        </p:nvSpPr>
        <p:spPr>
          <a:xfrm>
            <a:off x="9187434" y="4087368"/>
            <a:ext cx="2407158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mapped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named Annex A clause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02920" y="498348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DEECF9"/>
          </a:solidFill>
          <a:ln/>
        </p:spPr>
      </p:sp>
      <p:sp>
        <p:nvSpPr>
          <p:cNvPr id="40" name="Shape 34"/>
          <p:cNvSpPr/>
          <p:nvPr/>
        </p:nvSpPr>
        <p:spPr>
          <a:xfrm>
            <a:off x="649224" y="5129784"/>
            <a:ext cx="365760" cy="36576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41" name="Image 4" descr="/sessions/nice-ecstatic-meitner/mnt/outputs/assets/targe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979" y="5228539"/>
            <a:ext cx="168250" cy="16825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161288" y="5001768"/>
            <a:ext cx="103967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kern="0" spc="1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detect → prioritize → explain → remediate loop, proven achievable at individual, free-tier scale.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Business Problem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BUSINESS PROBLEM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Review Fails at Cloud Scale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point-in-time audit is stale the day it is published.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650000"/>
            <a:ext cx="5463540" cy="155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00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DRIFT GAP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02154" y="2214000"/>
            <a:ext cx="260000" cy="26000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Shape 9"/>
          <p:cNvSpPr/>
          <p:nvPr/>
        </p:nvSpPr>
        <p:spPr>
          <a:xfrm>
            <a:off x="1362154" y="2344000"/>
            <a:ext cx="741268" cy="0"/>
          </a:xfrm>
          <a:prstGeom prst="line">
            <a:avLst/>
          </a:prstGeom>
          <a:noFill/>
          <a:ln w="25400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34000"/>
            <a:ext cx="1001268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03422" y="2214000"/>
            <a:ext cx="260000" cy="26000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" name="Shape 12"/>
          <p:cNvSpPr/>
          <p:nvPr/>
        </p:nvSpPr>
        <p:spPr>
          <a:xfrm>
            <a:off x="2363422" y="2344000"/>
            <a:ext cx="741268" cy="0"/>
          </a:xfrm>
          <a:prstGeom prst="line">
            <a:avLst/>
          </a:prstGeom>
          <a:noFill/>
          <a:ln w="254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2788" y="2534000"/>
            <a:ext cx="1001268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04690" y="2214000"/>
            <a:ext cx="260000" cy="26000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7" name="Shape 15"/>
          <p:cNvSpPr/>
          <p:nvPr/>
        </p:nvSpPr>
        <p:spPr>
          <a:xfrm>
            <a:off x="3364690" y="2344000"/>
            <a:ext cx="741268" cy="0"/>
          </a:xfrm>
          <a:prstGeom prst="line">
            <a:avLst/>
          </a:prstGeom>
          <a:noFill/>
          <a:ln w="25400">
            <a:solidFill>
              <a:srgbClr val="D9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34056" y="2534000"/>
            <a:ext cx="1001268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05958" y="2214000"/>
            <a:ext cx="260000" cy="2600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65958" y="2344000"/>
            <a:ext cx="741268" cy="0"/>
          </a:xfrm>
          <a:prstGeom prst="line">
            <a:avLst/>
          </a:prstGeom>
          <a:noFill/>
          <a:ln w="25400">
            <a:solidFill>
              <a:srgbClr val="D9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5324" y="2534000"/>
            <a:ext cx="1001268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unseen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07226" y="2214000"/>
            <a:ext cx="260000" cy="2600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2534000"/>
            <a:ext cx="1001268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3350000"/>
            <a:ext cx="420000" cy="42000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5" name="Image 0" descr="/sessions/nice-ecstatic-meitner/mnt/outputs/asset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80" y="3463500"/>
            <a:ext cx="193000" cy="1930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35024" y="3340000"/>
            <a:ext cx="46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age instantly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335024" y="3605000"/>
            <a:ext cx="4600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quarterly review reflects a cloud that no longer exists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40080" y="3910000"/>
            <a:ext cx="420000" cy="42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9" name="Image 1" descr="/sessions/nice-ecstatic-meitner/mnt/outputs/assets/refre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80" y="4023500"/>
            <a:ext cx="193000" cy="1930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335024" y="3900000"/>
            <a:ext cx="46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Change outpaces people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1335024" y="4165000"/>
            <a:ext cx="4600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daily changes; humans sample a handful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640080" y="4470000"/>
            <a:ext cx="420000" cy="420000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3" name="Image 2" descr="/sessions/nice-ecstatic-meitner/mnt/outputs/assets/fil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80" y="4583500"/>
            <a:ext cx="193000" cy="1930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335024" y="4460000"/>
            <a:ext cx="46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buries signal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1335024" y="4725000"/>
            <a:ext cx="4600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Raw scanner output without prioritization is ignored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502920" y="515000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D7F1EB"/>
          </a:solidFill>
          <a:ln/>
        </p:spPr>
      </p:sp>
      <p:sp>
        <p:nvSpPr>
          <p:cNvPr id="37" name="Shape 32"/>
          <p:cNvSpPr/>
          <p:nvPr/>
        </p:nvSpPr>
        <p:spPr>
          <a:xfrm>
            <a:off x="649224" y="5296304"/>
            <a:ext cx="365760" cy="36576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8" name="Image 3" descr="/sessions/nice-ecstatic-meitner/mnt/outputs/assets/activit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" y="5395059"/>
            <a:ext cx="168250" cy="1682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161288" y="5168288"/>
            <a:ext cx="103967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automated, prioritized detection is the only viable operating model - not a nice-to-have.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6195060" y="1650000"/>
            <a:ext cx="546354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Sits: CSPM → CNAPP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6195060" y="1925000"/>
            <a:ext cx="546354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is the extensible core of the platform the market is converging on.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6195060" y="2245000"/>
            <a:ext cx="2000000" cy="2000000"/>
          </a:xfrm>
          <a:prstGeom prst="ellipse">
            <a:avLst/>
          </a:prstGeom>
          <a:solidFill>
            <a:srgbClr val="DEECF9"/>
          </a:solidFill>
          <a:ln/>
        </p:spPr>
      </p:sp>
      <p:sp>
        <p:nvSpPr>
          <p:cNvPr id="142" name="Shape 7"/>
          <p:cNvSpPr/>
          <p:nvPr/>
        </p:nvSpPr>
        <p:spPr>
          <a:xfrm>
            <a:off x="6463360" y="2513300"/>
            <a:ext cx="1463400" cy="1463400"/>
          </a:xfrm>
          <a:prstGeom prst="ellipse">
            <a:avLst/>
          </a:prstGeom>
          <a:solidFill>
            <a:srgbClr val="BFDBF2"/>
          </a:solidFill>
          <a:ln/>
        </p:spPr>
      </p:sp>
      <p:sp>
        <p:nvSpPr>
          <p:cNvPr id="143" name="Shape 8"/>
          <p:cNvSpPr/>
          <p:nvPr/>
        </p:nvSpPr>
        <p:spPr>
          <a:xfrm>
            <a:off x="6731660" y="2781600"/>
            <a:ext cx="926800" cy="92680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4" name="Text 9"/>
          <p:cNvSpPr/>
          <p:nvPr/>
        </p:nvSpPr>
        <p:spPr>
          <a:xfrm>
            <a:off x="6795060" y="3045000"/>
            <a:ext cx="8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CSPM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8345060" y="2460000"/>
            <a:ext cx="280000" cy="28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560" y="2535500"/>
            <a:ext cx="129000" cy="129000"/>
          </a:xfrm>
          <a:prstGeom prst="rect">
            <a:avLst/>
          </a:prstGeom>
        </p:spPr>
      </p:pic>
      <p:sp>
        <p:nvSpPr>
          <p:cNvPr id="40" name="Text 15"/>
          <p:cNvSpPr/>
          <p:nvPr/>
        </p:nvSpPr>
        <p:spPr>
          <a:xfrm>
            <a:off x="8725060" y="2410000"/>
            <a:ext cx="2933540" cy="1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CSPM - the foundation we built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8725060" y="2610000"/>
            <a:ext cx="293354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fix misconfiguration and compliance drift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8345060" y="2890000"/>
            <a:ext cx="280000" cy="28000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560" y="2965500"/>
            <a:ext cx="129000" cy="129000"/>
          </a:xfrm>
          <a:prstGeom prst="rect">
            <a:avLst/>
          </a:prstGeom>
        </p:spPr>
      </p:pic>
      <p:sp>
        <p:nvSpPr>
          <p:cNvPr id="41" name="Text 18"/>
          <p:cNvSpPr/>
          <p:nvPr/>
        </p:nvSpPr>
        <p:spPr>
          <a:xfrm>
            <a:off x="8725060" y="2840000"/>
            <a:ext cx="2933540" cy="1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CIEM - identity entitlements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8725060" y="3040000"/>
            <a:ext cx="293354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who can do what across the estate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20"/>
          <p:cNvSpPr/>
          <p:nvPr/>
        </p:nvSpPr>
        <p:spPr>
          <a:xfrm>
            <a:off x="8345060" y="3320000"/>
            <a:ext cx="280000" cy="280000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0560" y="3395500"/>
            <a:ext cx="129000" cy="129000"/>
          </a:xfrm>
          <a:prstGeom prst="rect">
            <a:avLst/>
          </a:prstGeom>
        </p:spPr>
      </p:pic>
      <p:sp>
        <p:nvSpPr>
          <p:cNvPr id="42" name="Text 21"/>
          <p:cNvSpPr/>
          <p:nvPr/>
        </p:nvSpPr>
        <p:spPr>
          <a:xfrm>
            <a:off x="8725060" y="3270000"/>
            <a:ext cx="2933540" cy="1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DSPM - data-aware risk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Text 22"/>
          <p:cNvSpPr/>
          <p:nvPr/>
        </p:nvSpPr>
        <p:spPr>
          <a:xfrm>
            <a:off x="8725060" y="3470000"/>
            <a:ext cx="293354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by the sensitivity of exposed data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Shape 23"/>
          <p:cNvSpPr/>
          <p:nvPr/>
        </p:nvSpPr>
        <p:spPr>
          <a:xfrm>
            <a:off x="8345060" y="3750000"/>
            <a:ext cx="280000" cy="28000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0560" y="3825500"/>
            <a:ext cx="129000" cy="129000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8725060" y="3700000"/>
            <a:ext cx="2933540" cy="1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Attack-path analysis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Text 25"/>
          <p:cNvSpPr/>
          <p:nvPr/>
        </p:nvSpPr>
        <p:spPr>
          <a:xfrm>
            <a:off x="8725060" y="3900000"/>
            <a:ext cx="293354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Chain findings into real exploit routes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 26"/>
          <p:cNvSpPr/>
          <p:nvPr/>
        </p:nvSpPr>
        <p:spPr>
          <a:xfrm>
            <a:off x="6195060" y="4305000"/>
            <a:ext cx="546354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travel - CloudGuardian's schema-first design extends outward without re-architecture.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D0C22B9A-BB91-6ECE-D707-3470C2F6D5E7}"/>
              </a:ext>
            </a:extLst>
          </p:cNvPr>
          <p:cNvSpPr/>
          <p:nvPr/>
        </p:nvSpPr>
        <p:spPr>
          <a:xfrm>
            <a:off x="288036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CIEM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3C6A9B14-7A18-4F81-A95E-BE095D0C6D53}"/>
              </a:ext>
            </a:extLst>
          </p:cNvPr>
          <p:cNvSpPr/>
          <p:nvPr/>
        </p:nvSpPr>
        <p:spPr>
          <a:xfrm>
            <a:off x="2514600" y="5120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0C661A08-27A2-A7EC-7BC8-DAEE3F917888}"/>
              </a:ext>
            </a:extLst>
          </p:cNvPr>
          <p:cNvSpPr/>
          <p:nvPr/>
        </p:nvSpPr>
        <p:spPr>
          <a:xfrm>
            <a:off x="7358588" y="31349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DSPM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92E5E5EB-5CBE-A9F5-B96E-AB7AF4A68EC4}"/>
              </a:ext>
            </a:extLst>
          </p:cNvPr>
          <p:cNvSpPr/>
          <p:nvPr/>
        </p:nvSpPr>
        <p:spPr>
          <a:xfrm>
            <a:off x="6077363" y="3159992"/>
            <a:ext cx="976625" cy="19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Workload / CWPP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2CA92675-13C5-15DF-CB18-A12A7A7B9F46}"/>
              </a:ext>
            </a:extLst>
          </p:cNvPr>
          <p:cNvSpPr/>
          <p:nvPr/>
        </p:nvSpPr>
        <p:spPr>
          <a:xfrm>
            <a:off x="6796084" y="22899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CIEM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4761746B-7527-4AA5-1229-85739E9A2747}"/>
              </a:ext>
            </a:extLst>
          </p:cNvPr>
          <p:cNvSpPr/>
          <p:nvPr/>
        </p:nvSpPr>
        <p:spPr>
          <a:xfrm>
            <a:off x="6746600" y="39800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CNAPP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968" y="645212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90328" y="645212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Technology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39568" y="645212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" y="1202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 &amp; TECHNOLOGY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" y="23515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Overall Solution Architecture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092" y="888081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loop, not a collection of scripts - every later slide zooms into one box here.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2880" y="1330983"/>
            <a:ext cx="1680972" cy="125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3366" y="1440983"/>
            <a:ext cx="460000" cy="46000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66" y="1565983"/>
            <a:ext cx="210000" cy="210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9456" y="1940983"/>
            <a:ext cx="160782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Azure/AWS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19456" y="2315983"/>
            <a:ext cx="160782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3-tier target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882140" y="1955983"/>
            <a:ext cx="182880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083308" y="1330983"/>
            <a:ext cx="1680972" cy="125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3794" y="1440983"/>
            <a:ext cx="460000" cy="46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6" name="Image 1" descr="/sessions/nice-ecstatic-meitner/mnt/outputs/asset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794" y="1565983"/>
            <a:ext cx="210000" cy="210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19884" y="1940983"/>
            <a:ext cx="160782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CSPM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Scanners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119884" y="2315983"/>
            <a:ext cx="160782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Prowler · Scout · Steampipe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782568" y="1955983"/>
            <a:ext cx="182880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3983736" y="1330983"/>
            <a:ext cx="1680972" cy="125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94222" y="1440983"/>
            <a:ext cx="460000" cy="46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2" name="Image 2" descr="/sessions/nice-ecstatic-meitner/mnt/outputs/asset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222" y="1565983"/>
            <a:ext cx="210000" cy="2100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020312" y="1940983"/>
            <a:ext cx="160782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020312" y="2315983"/>
            <a:ext cx="160782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schema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682996" y="1955983"/>
            <a:ext cx="182880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5884164" y="1330983"/>
            <a:ext cx="1680972" cy="125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94650" y="1440983"/>
            <a:ext cx="460000" cy="46000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8" name="Image 3" descr="/sessions/nice-ecstatic-meitner/mnt/outputs/assets/cpu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650" y="1565983"/>
            <a:ext cx="210000" cy="2100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920740" y="1940983"/>
            <a:ext cx="160782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Explain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5920740" y="2315983"/>
            <a:ext cx="160782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score + AI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583424" y="1955983"/>
            <a:ext cx="182880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7784592" y="1330983"/>
            <a:ext cx="1680972" cy="125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395078" y="1440983"/>
            <a:ext cx="460000" cy="460000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4" name="Image 4" descr="/sessions/nice-ecstatic-meitner/mnt/outputs/assets/slid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0078" y="1565983"/>
            <a:ext cx="210000" cy="2100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821168" y="1940983"/>
            <a:ext cx="160782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7821168" y="2315983"/>
            <a:ext cx="160782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9483852" y="1955983"/>
            <a:ext cx="182880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685020" y="1330983"/>
            <a:ext cx="1680972" cy="125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10295506" y="1440983"/>
            <a:ext cx="460000" cy="46000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40" name="Image 5" descr="/sessions/nice-ecstatic-meitner/mnt/outputs/assets/shield-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0506" y="1565983"/>
            <a:ext cx="210000" cy="2100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721596" y="1940983"/>
            <a:ext cx="160782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Audit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9721596" y="2315983"/>
            <a:ext cx="160782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 fix + log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1023366" y="2630983"/>
            <a:ext cx="9502140" cy="0"/>
          </a:xfrm>
          <a:prstGeom prst="line">
            <a:avLst/>
          </a:prstGeom>
          <a:noFill/>
          <a:ln w="19050">
            <a:solidFill>
              <a:srgbClr val="11A88E"/>
            </a:solidFill>
            <a:prstDash val="dash"/>
            <a:headEnd type="triangle"/>
          </a:ln>
        </p:spPr>
      </p:sp>
      <p:sp>
        <p:nvSpPr>
          <p:cNvPr id="44" name="Text 36"/>
          <p:cNvSpPr/>
          <p:nvPr/>
        </p:nvSpPr>
        <p:spPr>
          <a:xfrm>
            <a:off x="3383280" y="2694991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re-scan loop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176022" y="2887830"/>
            <a:ext cx="457200" cy="4572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46" name="Image 6" descr="/sessions/nice-ecstatic-meitner/mnt/outputs/assets/refresh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466" y="3011274"/>
            <a:ext cx="210312" cy="21031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33222" y="2922120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decide → remediate → re-verify runs as a loop, not a one-off scan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39"/>
          <p:cNvSpPr/>
          <p:nvPr/>
        </p:nvSpPr>
        <p:spPr>
          <a:xfrm>
            <a:off x="6429544" y="2868399"/>
            <a:ext cx="457200" cy="45720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49" name="Image 7" descr="/sessions/nice-ecstatic-meitner/mnt/outputs/assets/layer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4832" y="2978148"/>
            <a:ext cx="105156" cy="21031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928400" y="2958696"/>
            <a:ext cx="5148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Schema boundary in the middle makes the whole pipeline cloud-agnostic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A5C92A96-CBFB-4EAD-A7CA-0FD223C8B7B6}"/>
              </a:ext>
            </a:extLst>
          </p:cNvPr>
          <p:cNvSpPr/>
          <p:nvPr/>
        </p:nvSpPr>
        <p:spPr>
          <a:xfrm>
            <a:off x="219456" y="3980000"/>
            <a:ext cx="5486400" cy="11000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4E263D1D-8C2B-4F30-ECEE-24D4DD2B5EBD}"/>
              </a:ext>
            </a:extLst>
          </p:cNvPr>
          <p:cNvSpPr/>
          <p:nvPr/>
        </p:nvSpPr>
        <p:spPr>
          <a:xfrm>
            <a:off x="573816" y="4290000"/>
            <a:ext cx="480000" cy="48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53" name="Image 0" descr="/sessions/nice-ecstatic-meitner/mnt/outputs/assets/layers_white.png">
            <a:extLst>
              <a:ext uri="{FF2B5EF4-FFF2-40B4-BE49-F238E27FC236}">
                <a16:creationId xmlns:a16="http://schemas.microsoft.com/office/drawing/2014/main" id="{73F2B49C-2A2A-E999-CE0B-8F99B943E4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816" y="4420000"/>
            <a:ext cx="220000" cy="220000"/>
          </a:xfrm>
          <a:prstGeom prst="rect">
            <a:avLst/>
          </a:prstGeom>
        </p:spPr>
      </p:pic>
      <p:sp>
        <p:nvSpPr>
          <p:cNvPr id="54" name="Text 8">
            <a:extLst>
              <a:ext uri="{FF2B5EF4-FFF2-40B4-BE49-F238E27FC236}">
                <a16:creationId xmlns:a16="http://schemas.microsoft.com/office/drawing/2014/main" id="{1E1F615F-C7D3-B74B-F71A-9FAA2CEF3E7E}"/>
              </a:ext>
            </a:extLst>
          </p:cNvPr>
          <p:cNvSpPr/>
          <p:nvPr/>
        </p:nvSpPr>
        <p:spPr>
          <a:xfrm>
            <a:off x="1408176" y="4080000"/>
            <a:ext cx="4114800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Cloud-agnostic by design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53CC7850-3A3A-B42A-7EB1-E4D7AFC7EDAC}"/>
              </a:ext>
            </a:extLst>
          </p:cNvPr>
          <p:cNvSpPr/>
          <p:nvPr/>
        </p:nvSpPr>
        <p:spPr>
          <a:xfrm>
            <a:off x="1408176" y="4370000"/>
            <a:ext cx="41605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schema; Azure and AWS findings are plug-compatible with zero downstream change.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E1EF20F0-E732-208F-1E23-4915A050567C}"/>
              </a:ext>
            </a:extLst>
          </p:cNvPr>
          <p:cNvSpPr/>
          <p:nvPr/>
        </p:nvSpPr>
        <p:spPr>
          <a:xfrm>
            <a:off x="5934456" y="3980000"/>
            <a:ext cx="5486400" cy="11000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57" name="Shape 11">
            <a:extLst>
              <a:ext uri="{FF2B5EF4-FFF2-40B4-BE49-F238E27FC236}">
                <a16:creationId xmlns:a16="http://schemas.microsoft.com/office/drawing/2014/main" id="{070BAA1F-BCF2-F83E-2F28-14DD3DA65CE9}"/>
              </a:ext>
            </a:extLst>
          </p:cNvPr>
          <p:cNvSpPr/>
          <p:nvPr/>
        </p:nvSpPr>
        <p:spPr>
          <a:xfrm>
            <a:off x="6288816" y="4290000"/>
            <a:ext cx="480000" cy="48000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58" name="Image 1" descr="/sessions/nice-ecstatic-meitner/mnt/outputs/assets/shield-check_white.png">
            <a:extLst>
              <a:ext uri="{FF2B5EF4-FFF2-40B4-BE49-F238E27FC236}">
                <a16:creationId xmlns:a16="http://schemas.microsoft.com/office/drawing/2014/main" id="{E01EDE3D-AA33-0FE0-8601-A05F1D6CAC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816" y="4420000"/>
            <a:ext cx="220000" cy="220000"/>
          </a:xfrm>
          <a:prstGeom prst="rect">
            <a:avLst/>
          </a:prstGeom>
        </p:spPr>
      </p:pic>
      <p:sp>
        <p:nvSpPr>
          <p:cNvPr id="59" name="Text 12">
            <a:extLst>
              <a:ext uri="{FF2B5EF4-FFF2-40B4-BE49-F238E27FC236}">
                <a16:creationId xmlns:a16="http://schemas.microsoft.com/office/drawing/2014/main" id="{CE7E13CA-A6CF-951B-729D-95DAA629BDB4}"/>
              </a:ext>
            </a:extLst>
          </p:cNvPr>
          <p:cNvSpPr/>
          <p:nvPr/>
        </p:nvSpPr>
        <p:spPr>
          <a:xfrm>
            <a:off x="7123176" y="4080000"/>
            <a:ext cx="4114800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 by default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278372C3-987A-B400-618B-FE5003A9F781}"/>
              </a:ext>
            </a:extLst>
          </p:cNvPr>
          <p:cNvSpPr/>
          <p:nvPr/>
        </p:nvSpPr>
        <p:spPr>
          <a:xfrm>
            <a:off x="7123176" y="4370000"/>
            <a:ext cx="41605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misconfiguration toggle defaults to the secure setting - insecurity must be switched on deliberately.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D9AA975E-CC02-1F29-4652-F97D1CB08820}"/>
              </a:ext>
            </a:extLst>
          </p:cNvPr>
          <p:cNvSpPr/>
          <p:nvPr/>
        </p:nvSpPr>
        <p:spPr>
          <a:xfrm>
            <a:off x="219456" y="5190000"/>
            <a:ext cx="5486400" cy="11000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BEAF1B9C-CE1C-BF9F-62A8-35B476C8D5C0}"/>
              </a:ext>
            </a:extLst>
          </p:cNvPr>
          <p:cNvSpPr/>
          <p:nvPr/>
        </p:nvSpPr>
        <p:spPr>
          <a:xfrm>
            <a:off x="573816" y="5500000"/>
            <a:ext cx="480000" cy="480000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63" name="Image 2" descr="/sessions/nice-ecstatic-meitner/mnt/outputs/assets/gavel_white.png">
            <a:extLst>
              <a:ext uri="{FF2B5EF4-FFF2-40B4-BE49-F238E27FC236}">
                <a16:creationId xmlns:a16="http://schemas.microsoft.com/office/drawing/2014/main" id="{2749E760-A015-AFBE-0086-0067F4413D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816" y="5630000"/>
            <a:ext cx="220000" cy="220000"/>
          </a:xfrm>
          <a:prstGeom prst="rect">
            <a:avLst/>
          </a:prstGeom>
        </p:spPr>
      </p:pic>
      <p:sp>
        <p:nvSpPr>
          <p:cNvPr id="64" name="Text 16">
            <a:extLst>
              <a:ext uri="{FF2B5EF4-FFF2-40B4-BE49-F238E27FC236}">
                <a16:creationId xmlns:a16="http://schemas.microsoft.com/office/drawing/2014/main" id="{FE307FE1-A12A-DD90-28D1-A5FBF11080FD}"/>
              </a:ext>
            </a:extLst>
          </p:cNvPr>
          <p:cNvSpPr/>
          <p:nvPr/>
        </p:nvSpPr>
        <p:spPr>
          <a:xfrm>
            <a:off x="1408176" y="5290000"/>
            <a:ext cx="4114800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governs the irreversible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B4880F4D-7863-2B79-9D96-9A406EA9483F}"/>
              </a:ext>
            </a:extLst>
          </p:cNvPr>
          <p:cNvSpPr/>
          <p:nvPr/>
        </p:nvSpPr>
        <p:spPr>
          <a:xfrm>
            <a:off x="1408176" y="5580000"/>
            <a:ext cx="41605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Anything risky or non-reversible stops at an explicit human approval gate with full audit.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907E2A62-9C75-52C1-F895-876A40DD5152}"/>
              </a:ext>
            </a:extLst>
          </p:cNvPr>
          <p:cNvSpPr/>
          <p:nvPr/>
        </p:nvSpPr>
        <p:spPr>
          <a:xfrm>
            <a:off x="5934456" y="5190000"/>
            <a:ext cx="5486400" cy="11000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67" name="Shape 19">
            <a:extLst>
              <a:ext uri="{FF2B5EF4-FFF2-40B4-BE49-F238E27FC236}">
                <a16:creationId xmlns:a16="http://schemas.microsoft.com/office/drawing/2014/main" id="{544ECE56-BF85-C8E3-296F-DE2EA783C4EF}"/>
              </a:ext>
            </a:extLst>
          </p:cNvPr>
          <p:cNvSpPr/>
          <p:nvPr/>
        </p:nvSpPr>
        <p:spPr>
          <a:xfrm>
            <a:off x="6288816" y="5500000"/>
            <a:ext cx="480000" cy="48000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68" name="Image 3" descr="/sessions/nice-ecstatic-meitner/mnt/outputs/assets/check_white.png">
            <a:extLst>
              <a:ext uri="{FF2B5EF4-FFF2-40B4-BE49-F238E27FC236}">
                <a16:creationId xmlns:a16="http://schemas.microsoft.com/office/drawing/2014/main" id="{0D2AC0A9-E119-9570-F6E3-9FB6134884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8816" y="5630000"/>
            <a:ext cx="220000" cy="220000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CCAACDE8-E89E-7BAF-5E08-C89B27255C34}"/>
              </a:ext>
            </a:extLst>
          </p:cNvPr>
          <p:cNvSpPr/>
          <p:nvPr/>
        </p:nvSpPr>
        <p:spPr>
          <a:xfrm>
            <a:off x="7123176" y="5290000"/>
            <a:ext cx="4114800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trust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21">
            <a:extLst>
              <a:ext uri="{FF2B5EF4-FFF2-40B4-BE49-F238E27FC236}">
                <a16:creationId xmlns:a16="http://schemas.microsoft.com/office/drawing/2014/main" id="{93DDBF3F-2F9B-8BE7-CF57-9DA6F56785EB}"/>
              </a:ext>
            </a:extLst>
          </p:cNvPr>
          <p:cNvSpPr/>
          <p:nvPr/>
        </p:nvSpPr>
        <p:spPr>
          <a:xfrm>
            <a:off x="7123176" y="5580000"/>
            <a:ext cx="41605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AI output reaches an operator until it is checked against raw scanner evidence.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3A42C11D-DF95-1CC4-5061-8CB3BCE8A50C}"/>
              </a:ext>
            </a:extLst>
          </p:cNvPr>
          <p:cNvSpPr/>
          <p:nvPr/>
        </p:nvSpPr>
        <p:spPr>
          <a:xfrm>
            <a:off x="182880" y="3400000"/>
            <a:ext cx="60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82880" y="1202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 &amp; TECHNOLOGY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" y="38827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Agnostic Workload Architecture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0"/>
          <p:cNvSpPr/>
          <p:nvPr/>
        </p:nvSpPr>
        <p:spPr>
          <a:xfrm>
            <a:off x="234216" y="62529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400576" y="62529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Technology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2"/>
          <p:cNvSpPr/>
          <p:nvPr/>
        </p:nvSpPr>
        <p:spPr>
          <a:xfrm>
            <a:off x="10749816" y="625294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5"/>
          <p:cNvSpPr/>
          <p:nvPr/>
        </p:nvSpPr>
        <p:spPr>
          <a:xfrm>
            <a:off x="210072" y="9986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real 3-tier environment - the findings that follow are meaningful, not toy.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234216" y="1447276"/>
            <a:ext cx="8595360" cy="2500000"/>
          </a:xfrm>
          <a:prstGeom prst="roundRect">
            <a:avLst>
              <a:gd name="adj" fmla="val 1538"/>
            </a:avLst>
          </a:prstGeom>
          <a:solidFill>
            <a:srgbClr val="F1F4F8"/>
          </a:solidFill>
          <a:ln w="15875">
            <a:solidFill>
              <a:srgbClr val="2B88D8"/>
            </a:solidFill>
            <a:prstDash val="dash"/>
          </a:ln>
        </p:spPr>
      </p:sp>
      <p:sp>
        <p:nvSpPr>
          <p:cNvPr id="77" name="Text 7"/>
          <p:cNvSpPr/>
          <p:nvPr/>
        </p:nvSpPr>
        <p:spPr>
          <a:xfrm>
            <a:off x="417096" y="1507276"/>
            <a:ext cx="82296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 ·  rg-cloudguardian-lab  ·  Central US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462816" y="1787276"/>
            <a:ext cx="5852160" cy="186000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9" name="Text 9"/>
          <p:cNvSpPr/>
          <p:nvPr/>
        </p:nvSpPr>
        <p:spPr>
          <a:xfrm>
            <a:off x="599976" y="1837276"/>
            <a:ext cx="557784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/ VPC  ·  web + data subnets  ·  NSG / Security Group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645696" y="2107276"/>
            <a:ext cx="5486400" cy="460000"/>
          </a:xfrm>
          <a:prstGeom prst="roundRect">
            <a:avLst>
              <a:gd name="adj" fmla="val 6944"/>
            </a:avLst>
          </a:prstGeom>
          <a:solidFill>
            <a:srgbClr val="FAF9F6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81" name="Shape 11"/>
          <p:cNvSpPr/>
          <p:nvPr/>
        </p:nvSpPr>
        <p:spPr>
          <a:xfrm>
            <a:off x="673712" y="2227276"/>
            <a:ext cx="220000" cy="22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82" name="Image 0" descr="/sessions/nice-ecstatic-meitner/mnt/outputs/asset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12" y="2287276"/>
            <a:ext cx="100000" cy="100000"/>
          </a:xfrm>
          <a:prstGeom prst="rect">
            <a:avLst/>
          </a:prstGeom>
        </p:spPr>
      </p:pic>
      <p:sp>
        <p:nvSpPr>
          <p:cNvPr id="83" name="Text 12"/>
          <p:cNvSpPr/>
          <p:nvPr/>
        </p:nvSpPr>
        <p:spPr>
          <a:xfrm>
            <a:off x="1340640" y="2137276"/>
            <a:ext cx="18288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Web Tier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1340640" y="2347276"/>
            <a:ext cx="466344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Ubuntu VM · Public IP · nginx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645696" y="2617276"/>
            <a:ext cx="5486400" cy="460000"/>
          </a:xfrm>
          <a:prstGeom prst="roundRect">
            <a:avLst>
              <a:gd name="adj" fmla="val 6944"/>
            </a:avLst>
          </a:prstGeom>
          <a:solidFill>
            <a:srgbClr val="FAF9F6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86" name="Shape 15"/>
          <p:cNvSpPr/>
          <p:nvPr/>
        </p:nvSpPr>
        <p:spPr>
          <a:xfrm>
            <a:off x="673712" y="2737276"/>
            <a:ext cx="220000" cy="22000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87" name="Image 1" descr="/sessions/nice-ecstatic-meitner/mnt/outputs/asset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12" y="2797276"/>
            <a:ext cx="100000" cy="100000"/>
          </a:xfrm>
          <a:prstGeom prst="rect">
            <a:avLst/>
          </a:prstGeom>
        </p:spPr>
      </p:pic>
      <p:sp>
        <p:nvSpPr>
          <p:cNvPr id="88" name="Text 16"/>
          <p:cNvSpPr/>
          <p:nvPr/>
        </p:nvSpPr>
        <p:spPr>
          <a:xfrm>
            <a:off x="1340640" y="2647276"/>
            <a:ext cx="18288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1340640" y="2857276"/>
            <a:ext cx="466344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 / Amazon RDS (Basic)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Shape 18"/>
          <p:cNvSpPr/>
          <p:nvPr/>
        </p:nvSpPr>
        <p:spPr>
          <a:xfrm>
            <a:off x="645696" y="3127276"/>
            <a:ext cx="5486400" cy="460000"/>
          </a:xfrm>
          <a:prstGeom prst="roundRect">
            <a:avLst>
              <a:gd name="adj" fmla="val 6944"/>
            </a:avLst>
          </a:prstGeom>
          <a:solidFill>
            <a:srgbClr val="FAF9F6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91" name="Shape 19"/>
          <p:cNvSpPr/>
          <p:nvPr/>
        </p:nvSpPr>
        <p:spPr>
          <a:xfrm>
            <a:off x="673712" y="3247276"/>
            <a:ext cx="220000" cy="220000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92" name="Image 2" descr="/sessions/nice-ecstatic-meitner/mnt/outputs/assets/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12" y="3307276"/>
            <a:ext cx="100000" cy="100000"/>
          </a:xfrm>
          <a:prstGeom prst="rect">
            <a:avLst/>
          </a:prstGeom>
        </p:spPr>
      </p:pic>
      <p:sp>
        <p:nvSpPr>
          <p:cNvPr id="93" name="Text 20"/>
          <p:cNvSpPr/>
          <p:nvPr/>
        </p:nvSpPr>
        <p:spPr>
          <a:xfrm>
            <a:off x="1340640" y="3157276"/>
            <a:ext cx="18288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 21"/>
          <p:cNvSpPr/>
          <p:nvPr/>
        </p:nvSpPr>
        <p:spPr>
          <a:xfrm>
            <a:off x="1340640" y="3367276"/>
            <a:ext cx="466344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/ Amazon S3 + container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Shape 22"/>
          <p:cNvSpPr/>
          <p:nvPr/>
        </p:nvSpPr>
        <p:spPr>
          <a:xfrm>
            <a:off x="6543576" y="1897276"/>
            <a:ext cx="2148840" cy="1600000"/>
          </a:xfrm>
          <a:prstGeom prst="roundRect">
            <a:avLst>
              <a:gd name="adj" fmla="val 2791"/>
            </a:avLst>
          </a:prstGeom>
          <a:solidFill>
            <a:srgbClr val="0B1F3A"/>
          </a:solidFill>
          <a:ln/>
        </p:spPr>
      </p:sp>
      <p:sp>
        <p:nvSpPr>
          <p:cNvPr id="96" name="Shape 23"/>
          <p:cNvSpPr/>
          <p:nvPr/>
        </p:nvSpPr>
        <p:spPr>
          <a:xfrm>
            <a:off x="7412256" y="2017276"/>
            <a:ext cx="380000" cy="380000"/>
          </a:xfrm>
          <a:prstGeom prst="ellipse">
            <a:avLst/>
          </a:prstGeom>
          <a:solidFill>
            <a:srgbClr val="2B88D8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97" name="Image 3" descr="/sessions/nice-ecstatic-meitner/mnt/outputs/asset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4756" y="2119776"/>
            <a:ext cx="175000" cy="175000"/>
          </a:xfrm>
          <a:prstGeom prst="rect">
            <a:avLst/>
          </a:prstGeom>
        </p:spPr>
      </p:pic>
      <p:sp>
        <p:nvSpPr>
          <p:cNvPr id="98" name="Text 24"/>
          <p:cNvSpPr/>
          <p:nvPr/>
        </p:nvSpPr>
        <p:spPr>
          <a:xfrm>
            <a:off x="6635016" y="2457276"/>
            <a:ext cx="196596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Workspace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 CloudWatch Logs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6635016" y="3137276"/>
            <a:ext cx="196596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CFE0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sink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26"/>
          <p:cNvSpPr/>
          <p:nvPr/>
        </p:nvSpPr>
        <p:spPr>
          <a:xfrm>
            <a:off x="6132096" y="2772276"/>
            <a:ext cx="411480" cy="0"/>
          </a:xfrm>
          <a:prstGeom prst="line">
            <a:avLst/>
          </a:prstGeom>
          <a:noFill/>
          <a:ln w="19050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101" name="Shape 27"/>
          <p:cNvSpPr/>
          <p:nvPr/>
        </p:nvSpPr>
        <p:spPr>
          <a:xfrm>
            <a:off x="9058176" y="1622276"/>
            <a:ext cx="420000" cy="42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2" name="Image 4" descr="/sessions/nice-ecstatic-meitner/mnt/outputs/assets/bran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0676" y="1734776"/>
            <a:ext cx="195000" cy="195000"/>
          </a:xfrm>
          <a:prstGeom prst="rect">
            <a:avLst/>
          </a:prstGeom>
        </p:spPr>
      </p:pic>
      <p:sp>
        <p:nvSpPr>
          <p:cNvPr id="103" name="Text 28"/>
          <p:cNvSpPr/>
          <p:nvPr/>
        </p:nvSpPr>
        <p:spPr>
          <a:xfrm>
            <a:off x="9789696" y="1507276"/>
            <a:ext cx="17830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by Terraform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9789696" y="1817276"/>
            <a:ext cx="1783080" cy="3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11-file modular IaC project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Shape 30"/>
          <p:cNvSpPr/>
          <p:nvPr/>
        </p:nvSpPr>
        <p:spPr>
          <a:xfrm>
            <a:off x="9058176" y="2402276"/>
            <a:ext cx="420000" cy="42000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6" name="Image 5" descr="/sessions/nice-ecstatic-meitner/mnt/outputs/assets/lay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0676" y="2514776"/>
            <a:ext cx="195000" cy="195000"/>
          </a:xfrm>
          <a:prstGeom prst="rect">
            <a:avLst/>
          </a:prstGeom>
        </p:spPr>
      </p:pic>
      <p:sp>
        <p:nvSpPr>
          <p:cNvPr id="107" name="Text 31"/>
          <p:cNvSpPr/>
          <p:nvPr/>
        </p:nvSpPr>
        <p:spPr>
          <a:xfrm>
            <a:off x="9789696" y="2287276"/>
            <a:ext cx="17830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Mirrors enterprise shape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Text 32"/>
          <p:cNvSpPr/>
          <p:nvPr/>
        </p:nvSpPr>
        <p:spPr>
          <a:xfrm>
            <a:off x="9789696" y="2597276"/>
            <a:ext cx="1783080" cy="3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Segmented tiers, real services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Shape 33"/>
          <p:cNvSpPr/>
          <p:nvPr/>
        </p:nvSpPr>
        <p:spPr>
          <a:xfrm>
            <a:off x="9058176" y="3182276"/>
            <a:ext cx="420000" cy="42000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10" name="Image 6" descr="/sessions/nice-ecstatic-meitner/mnt/outputs/assets/shiel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0676" y="3294776"/>
            <a:ext cx="195000" cy="195000"/>
          </a:xfrm>
          <a:prstGeom prst="rect">
            <a:avLst/>
          </a:prstGeom>
        </p:spPr>
      </p:pic>
      <p:sp>
        <p:nvSpPr>
          <p:cNvPr id="111" name="Text 34"/>
          <p:cNvSpPr/>
          <p:nvPr/>
        </p:nvSpPr>
        <p:spPr>
          <a:xfrm>
            <a:off x="9789696" y="3067276"/>
            <a:ext cx="17830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Secure-by-default baseline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Text 35"/>
          <p:cNvSpPr/>
          <p:nvPr/>
        </p:nvSpPr>
        <p:spPr>
          <a:xfrm>
            <a:off x="9789696" y="3377276"/>
            <a:ext cx="1783080" cy="3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Flaws are toggled, not native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234216" y="4027276"/>
            <a:ext cx="1115568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253632" y="4382276"/>
            <a:ext cx="11183112" cy="280000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46" name="Shape 7"/>
          <p:cNvSpPr/>
          <p:nvPr/>
        </p:nvSpPr>
        <p:spPr>
          <a:xfrm>
            <a:off x="445384" y="4412276"/>
            <a:ext cx="220000" cy="22000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84" y="4472276"/>
            <a:ext cx="100000" cy="100000"/>
          </a:xfrm>
          <a:prstGeom prst="rect">
            <a:avLst/>
          </a:prstGeom>
        </p:spPr>
      </p:pic>
      <p:sp>
        <p:nvSpPr>
          <p:cNvPr id="113" name="Text 8"/>
          <p:cNvSpPr/>
          <p:nvPr/>
        </p:nvSpPr>
        <p:spPr>
          <a:xfrm>
            <a:off x="893712" y="4382276"/>
            <a:ext cx="374904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4779912" y="4432276"/>
            <a:ext cx="2016000" cy="1800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49" name="Text 10"/>
          <p:cNvSpPr/>
          <p:nvPr/>
        </p:nvSpPr>
        <p:spPr>
          <a:xfrm>
            <a:off x="4779912" y="4422276"/>
            <a:ext cx="2016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(Azure + AWS provider)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Shape 11"/>
          <p:cNvSpPr/>
          <p:nvPr/>
        </p:nvSpPr>
        <p:spPr>
          <a:xfrm>
            <a:off x="253632" y="4687276"/>
            <a:ext cx="11183112" cy="28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1" name="Shape 12"/>
          <p:cNvSpPr/>
          <p:nvPr/>
        </p:nvSpPr>
        <p:spPr>
          <a:xfrm>
            <a:off x="445384" y="4717276"/>
            <a:ext cx="220000" cy="22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384" y="4777276"/>
            <a:ext cx="100000" cy="100000"/>
          </a:xfrm>
          <a:prstGeom prst="rect">
            <a:avLst/>
          </a:prstGeom>
        </p:spPr>
      </p:pic>
      <p:sp>
        <p:nvSpPr>
          <p:cNvPr id="114" name="Text 13"/>
          <p:cNvSpPr/>
          <p:nvPr/>
        </p:nvSpPr>
        <p:spPr>
          <a:xfrm>
            <a:off x="893712" y="4687276"/>
            <a:ext cx="374904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CSPM Detection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Shape 14"/>
          <p:cNvSpPr/>
          <p:nvPr/>
        </p:nvSpPr>
        <p:spPr>
          <a:xfrm>
            <a:off x="4779912" y="4737276"/>
            <a:ext cx="691000" cy="1800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54" name="Text 15"/>
          <p:cNvSpPr/>
          <p:nvPr/>
        </p:nvSpPr>
        <p:spPr>
          <a:xfrm>
            <a:off x="4779912" y="4727276"/>
            <a:ext cx="691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Prowler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Shape 16"/>
          <p:cNvSpPr/>
          <p:nvPr/>
        </p:nvSpPr>
        <p:spPr>
          <a:xfrm>
            <a:off x="5620912" y="4737276"/>
            <a:ext cx="850000" cy="1800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56" name="Text 17"/>
          <p:cNvSpPr/>
          <p:nvPr/>
        </p:nvSpPr>
        <p:spPr>
          <a:xfrm>
            <a:off x="5620912" y="4727276"/>
            <a:ext cx="85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ScoutSuite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Shape 18"/>
          <p:cNvSpPr/>
          <p:nvPr/>
        </p:nvSpPr>
        <p:spPr>
          <a:xfrm>
            <a:off x="6620912" y="4737276"/>
            <a:ext cx="1327000" cy="1800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58" name="Text 19"/>
          <p:cNvSpPr/>
          <p:nvPr/>
        </p:nvSpPr>
        <p:spPr>
          <a:xfrm>
            <a:off x="6620912" y="4727276"/>
            <a:ext cx="1327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Steampipe + CIS mod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Shape 20"/>
          <p:cNvSpPr/>
          <p:nvPr/>
        </p:nvSpPr>
        <p:spPr>
          <a:xfrm>
            <a:off x="253632" y="4992276"/>
            <a:ext cx="11183112" cy="280000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60" name="Shape 21"/>
          <p:cNvSpPr/>
          <p:nvPr/>
        </p:nvSpPr>
        <p:spPr>
          <a:xfrm>
            <a:off x="445384" y="5022276"/>
            <a:ext cx="220000" cy="220000"/>
          </a:xfrm>
          <a:prstGeom prst="ellipse">
            <a:avLst/>
          </a:prstGeom>
          <a:solidFill>
            <a:srgbClr val="2B88D8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84" y="5082276"/>
            <a:ext cx="100000" cy="100000"/>
          </a:xfrm>
          <a:prstGeom prst="rect">
            <a:avLst/>
          </a:prstGeom>
        </p:spPr>
      </p:pic>
      <p:sp>
        <p:nvSpPr>
          <p:cNvPr id="115" name="Text 22"/>
          <p:cNvSpPr/>
          <p:nvPr/>
        </p:nvSpPr>
        <p:spPr>
          <a:xfrm>
            <a:off x="893712" y="4992276"/>
            <a:ext cx="374904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(read-only signal)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Shape 23"/>
          <p:cNvSpPr/>
          <p:nvPr/>
        </p:nvSpPr>
        <p:spPr>
          <a:xfrm>
            <a:off x="4779912" y="5042276"/>
            <a:ext cx="2069000" cy="180000"/>
          </a:xfrm>
          <a:prstGeom prst="roundRect">
            <a:avLst>
              <a:gd name="adj" fmla="val 50000"/>
            </a:avLst>
          </a:prstGeom>
          <a:solidFill>
            <a:srgbClr val="2B88D8"/>
          </a:solidFill>
          <a:ln/>
        </p:spPr>
      </p:sp>
      <p:sp>
        <p:nvSpPr>
          <p:cNvPr id="163" name="Text 24"/>
          <p:cNvSpPr/>
          <p:nvPr/>
        </p:nvSpPr>
        <p:spPr>
          <a:xfrm>
            <a:off x="4779912" y="5032276"/>
            <a:ext cx="2069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/ Security Hub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Shape 25"/>
          <p:cNvSpPr/>
          <p:nvPr/>
        </p:nvSpPr>
        <p:spPr>
          <a:xfrm>
            <a:off x="6998912" y="5042276"/>
            <a:ext cx="2069000" cy="180000"/>
          </a:xfrm>
          <a:prstGeom prst="roundRect">
            <a:avLst>
              <a:gd name="adj" fmla="val 50000"/>
            </a:avLst>
          </a:prstGeom>
          <a:solidFill>
            <a:srgbClr val="2B88D8"/>
          </a:solidFill>
          <a:ln/>
        </p:spPr>
      </p:sp>
      <p:sp>
        <p:nvSpPr>
          <p:cNvPr id="165" name="Text 26"/>
          <p:cNvSpPr/>
          <p:nvPr/>
        </p:nvSpPr>
        <p:spPr>
          <a:xfrm>
            <a:off x="6998912" y="5032276"/>
            <a:ext cx="2069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Secure Score / Security Hub Score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Shape 27"/>
          <p:cNvSpPr/>
          <p:nvPr/>
        </p:nvSpPr>
        <p:spPr>
          <a:xfrm>
            <a:off x="9217912" y="5042276"/>
            <a:ext cx="1539000" cy="180000"/>
          </a:xfrm>
          <a:prstGeom prst="roundRect">
            <a:avLst>
              <a:gd name="adj" fmla="val 50000"/>
            </a:avLst>
          </a:prstGeom>
          <a:solidFill>
            <a:srgbClr val="2B88D8"/>
          </a:solidFill>
          <a:ln/>
        </p:spPr>
      </p:sp>
      <p:sp>
        <p:nvSpPr>
          <p:cNvPr id="167" name="Text 28"/>
          <p:cNvSpPr/>
          <p:nvPr/>
        </p:nvSpPr>
        <p:spPr>
          <a:xfrm>
            <a:off x="9217912" y="5032276"/>
            <a:ext cx="1539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Graph / Config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Shape 29"/>
          <p:cNvSpPr/>
          <p:nvPr/>
        </p:nvSpPr>
        <p:spPr>
          <a:xfrm>
            <a:off x="253632" y="5297276"/>
            <a:ext cx="11183112" cy="28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69" name="Shape 30"/>
          <p:cNvSpPr/>
          <p:nvPr/>
        </p:nvSpPr>
        <p:spPr>
          <a:xfrm>
            <a:off x="445384" y="5327276"/>
            <a:ext cx="220000" cy="22000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5384" y="5387276"/>
            <a:ext cx="100000" cy="100000"/>
          </a:xfrm>
          <a:prstGeom prst="rect">
            <a:avLst/>
          </a:prstGeom>
        </p:spPr>
      </p:pic>
      <p:sp>
        <p:nvSpPr>
          <p:cNvPr id="116" name="Text 31"/>
          <p:cNvSpPr/>
          <p:nvPr/>
        </p:nvSpPr>
        <p:spPr>
          <a:xfrm>
            <a:off x="893712" y="5297276"/>
            <a:ext cx="374904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Shape 32"/>
          <p:cNvSpPr/>
          <p:nvPr/>
        </p:nvSpPr>
        <p:spPr>
          <a:xfrm>
            <a:off x="4779912" y="5347276"/>
            <a:ext cx="1115000" cy="180000"/>
          </a:xfrm>
          <a:prstGeom prst="roundRect">
            <a:avLst>
              <a:gd name="adj" fmla="val 50000"/>
            </a:avLst>
          </a:prstGeom>
          <a:solidFill>
            <a:srgbClr val="11A88E"/>
          </a:solidFill>
          <a:ln/>
        </p:spPr>
      </p:sp>
      <p:sp>
        <p:nvSpPr>
          <p:cNvPr id="172" name="Text 33"/>
          <p:cNvSpPr/>
          <p:nvPr/>
        </p:nvSpPr>
        <p:spPr>
          <a:xfrm>
            <a:off x="4779912" y="5337276"/>
            <a:ext cx="1115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3" name="Shape 34"/>
          <p:cNvSpPr/>
          <p:nvPr/>
        </p:nvSpPr>
        <p:spPr>
          <a:xfrm>
            <a:off x="6044912" y="5347276"/>
            <a:ext cx="1274000" cy="180000"/>
          </a:xfrm>
          <a:prstGeom prst="roundRect">
            <a:avLst>
              <a:gd name="adj" fmla="val 50000"/>
            </a:avLst>
          </a:prstGeom>
          <a:solidFill>
            <a:srgbClr val="11A88E"/>
          </a:solidFill>
          <a:ln/>
        </p:spPr>
      </p:sp>
      <p:sp>
        <p:nvSpPr>
          <p:cNvPr id="174" name="Text 35"/>
          <p:cNvSpPr/>
          <p:nvPr/>
        </p:nvSpPr>
        <p:spPr>
          <a:xfrm>
            <a:off x="6044912" y="5337276"/>
            <a:ext cx="127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 API (verified)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5" name="Shape 36"/>
          <p:cNvSpPr/>
          <p:nvPr/>
        </p:nvSpPr>
        <p:spPr>
          <a:xfrm>
            <a:off x="253632" y="5602276"/>
            <a:ext cx="11183112" cy="280000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76" name="Shape 37"/>
          <p:cNvSpPr/>
          <p:nvPr/>
        </p:nvSpPr>
        <p:spPr>
          <a:xfrm>
            <a:off x="445384" y="5632276"/>
            <a:ext cx="220000" cy="220000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384" y="5692276"/>
            <a:ext cx="100000" cy="100000"/>
          </a:xfrm>
          <a:prstGeom prst="rect">
            <a:avLst/>
          </a:prstGeom>
        </p:spPr>
      </p:pic>
      <p:sp>
        <p:nvSpPr>
          <p:cNvPr id="117" name="Text 38"/>
          <p:cNvSpPr/>
          <p:nvPr/>
        </p:nvSpPr>
        <p:spPr>
          <a:xfrm>
            <a:off x="893712" y="5602276"/>
            <a:ext cx="374904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Console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Shape 39"/>
          <p:cNvSpPr/>
          <p:nvPr/>
        </p:nvSpPr>
        <p:spPr>
          <a:xfrm>
            <a:off x="4779912" y="5652276"/>
            <a:ext cx="797000" cy="180000"/>
          </a:xfrm>
          <a:prstGeom prst="roundRect">
            <a:avLst>
              <a:gd name="adj" fmla="val 50000"/>
            </a:avLst>
          </a:prstGeom>
          <a:solidFill>
            <a:srgbClr val="C98A21"/>
          </a:solidFill>
          <a:ln/>
        </p:spPr>
      </p:sp>
      <p:sp>
        <p:nvSpPr>
          <p:cNvPr id="179" name="Text 40"/>
          <p:cNvSpPr/>
          <p:nvPr/>
        </p:nvSpPr>
        <p:spPr>
          <a:xfrm>
            <a:off x="4779912" y="5642276"/>
            <a:ext cx="797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41"/>
          <p:cNvSpPr/>
          <p:nvPr/>
        </p:nvSpPr>
        <p:spPr>
          <a:xfrm>
            <a:off x="5726912" y="5652276"/>
            <a:ext cx="638000" cy="180000"/>
          </a:xfrm>
          <a:prstGeom prst="roundRect">
            <a:avLst>
              <a:gd name="adj" fmla="val 50000"/>
            </a:avLst>
          </a:prstGeom>
          <a:solidFill>
            <a:srgbClr val="C98A21"/>
          </a:solidFill>
          <a:ln/>
        </p:spPr>
      </p:sp>
      <p:sp>
        <p:nvSpPr>
          <p:cNvPr id="181" name="Text 42"/>
          <p:cNvSpPr/>
          <p:nvPr/>
        </p:nvSpPr>
        <p:spPr>
          <a:xfrm>
            <a:off x="5726912" y="5642276"/>
            <a:ext cx="638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Shape 43"/>
          <p:cNvSpPr/>
          <p:nvPr/>
        </p:nvSpPr>
        <p:spPr>
          <a:xfrm>
            <a:off x="6514912" y="5652276"/>
            <a:ext cx="638000" cy="180000"/>
          </a:xfrm>
          <a:prstGeom prst="roundRect">
            <a:avLst>
              <a:gd name="adj" fmla="val 50000"/>
            </a:avLst>
          </a:prstGeom>
          <a:solidFill>
            <a:srgbClr val="C98A21"/>
          </a:solidFill>
          <a:ln/>
        </p:spPr>
      </p:sp>
      <p:sp>
        <p:nvSpPr>
          <p:cNvPr id="183" name="Text 44"/>
          <p:cNvSpPr/>
          <p:nvPr/>
        </p:nvSpPr>
        <p:spPr>
          <a:xfrm>
            <a:off x="6514912" y="5642276"/>
            <a:ext cx="638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Shape 45"/>
          <p:cNvSpPr/>
          <p:nvPr/>
        </p:nvSpPr>
        <p:spPr>
          <a:xfrm>
            <a:off x="253632" y="5907276"/>
            <a:ext cx="11183112" cy="28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85" name="Shape 46"/>
          <p:cNvSpPr/>
          <p:nvPr/>
        </p:nvSpPr>
        <p:spPr>
          <a:xfrm>
            <a:off x="445384" y="5937276"/>
            <a:ext cx="220000" cy="22000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86" name="Picture 18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384" y="5997276"/>
            <a:ext cx="100000" cy="100000"/>
          </a:xfrm>
          <a:prstGeom prst="rect">
            <a:avLst/>
          </a:prstGeom>
        </p:spPr>
      </p:pic>
      <p:sp>
        <p:nvSpPr>
          <p:cNvPr id="118" name="Text 47"/>
          <p:cNvSpPr/>
          <p:nvPr/>
        </p:nvSpPr>
        <p:spPr>
          <a:xfrm>
            <a:off x="893712" y="5907276"/>
            <a:ext cx="374904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7" name="Shape 48"/>
          <p:cNvSpPr/>
          <p:nvPr/>
        </p:nvSpPr>
        <p:spPr>
          <a:xfrm>
            <a:off x="4779912" y="5957276"/>
            <a:ext cx="1380000" cy="1800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88" name="Text 49"/>
          <p:cNvSpPr/>
          <p:nvPr/>
        </p:nvSpPr>
        <p:spPr>
          <a:xfrm>
            <a:off x="4779912" y="5947276"/>
            <a:ext cx="138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/ AWS CLI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Shape 50"/>
          <p:cNvSpPr/>
          <p:nvPr/>
        </p:nvSpPr>
        <p:spPr>
          <a:xfrm>
            <a:off x="6309912" y="5957276"/>
            <a:ext cx="3341000" cy="1800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90" name="Text 51"/>
          <p:cNvSpPr/>
          <p:nvPr/>
        </p:nvSpPr>
        <p:spPr>
          <a:xfrm>
            <a:off x="6309912" y="5947276"/>
            <a:ext cx="3341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Logic Apps / Lambda &amp; Step Functions (target)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68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Technology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· CSPM TOOLING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Three Scanners, Not One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 is how real teams drive down false negatives.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566160" cy="245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2376" y="2029968"/>
            <a:ext cx="658368" cy="658368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5" y="2207727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048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Prowler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08760" y="2395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Primary - breadth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0664" y="2926080"/>
            <a:ext cx="3200400" cy="11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Widest check coverage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CSV / HTML / JSON-OCSF output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83 findings on our baseline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251960" y="1828800"/>
            <a:ext cx="3566160" cy="245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71416" y="2029968"/>
            <a:ext cx="658368" cy="658368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6" name="Image 1" descr="/sessions/nice-ecstatic-meitner/mnt/outputs/assets/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175" y="2207727"/>
            <a:ext cx="302849" cy="3028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2048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ScoutSuite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257800" y="2395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cross-check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489704" y="2926080"/>
            <a:ext cx="3200400" cy="11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Second opinion on findings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detection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Reduces single-tool blind spots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001000" y="1828800"/>
            <a:ext cx="3566160" cy="245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20456" y="2029968"/>
            <a:ext cx="658368" cy="658368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2" name="Image 2" descr="/sessions/nice-ecstatic-meitner/mnt/outputs/asset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215" y="2207727"/>
            <a:ext cx="302849" cy="3028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06840" y="2048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Steampipe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9006840" y="2395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C98A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SQL + CIS benchmark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238744" y="2926080"/>
            <a:ext cx="3200400" cy="11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Query findings as SQL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Azure CIS compliance mod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Benchmark-native validation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02920" y="5958800"/>
            <a:ext cx="11183112" cy="430000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/>
        </p:spPr>
      </p:sp>
      <p:sp>
        <p:nvSpPr>
          <p:cNvPr id="27" name="Shape 22"/>
          <p:cNvSpPr/>
          <p:nvPr/>
        </p:nvSpPr>
        <p:spPr>
          <a:xfrm>
            <a:off x="712624" y="6054400"/>
            <a:ext cx="238960" cy="23896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8" name="Image 3" descr="/sessions/nice-ecstatic-meitner/mnt/outputs/assets/shar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44" y="6118930"/>
            <a:ext cx="109920" cy="109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61288" y="5970750"/>
            <a:ext cx="10396728" cy="40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scanner is trusted blindly - agreement across tools raises confidence; disagreement surfaces gaps.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4358800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8A93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COMBINED FINDINGS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93800"/>
            <a:ext cx="1550000" cy="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42920" y="4988800"/>
            <a:ext cx="260000" cy="2600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920" y="5043800"/>
            <a:ext cx="150000" cy="15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2920" y="4988800"/>
            <a:ext cx="11600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Normalize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920" y="5213800"/>
            <a:ext cx="116000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merge 3 scanner outputs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052920" y="5118800"/>
            <a:ext cx="150000" cy="0"/>
          </a:xfrm>
          <a:prstGeom prst="line">
            <a:avLst/>
          </a:prstGeom>
          <a:ln w="15875">
            <a:solidFill>
              <a:srgbClr val="9AA5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202920" y="4893800"/>
            <a:ext cx="1550000" cy="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2242920" y="4988800"/>
            <a:ext cx="260000" cy="260000"/>
          </a:xfrm>
          <a:prstGeom prst="ellipse">
            <a:avLst/>
          </a:prstGeom>
          <a:solidFill>
            <a:srgbClr val="11A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7920" y="5043800"/>
            <a:ext cx="150000" cy="15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552920" y="4988800"/>
            <a:ext cx="11600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Prioritize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2920" y="5213800"/>
            <a:ext cx="116000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risk score + LLM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3752920" y="4688800"/>
            <a:ext cx="100000" cy="430000"/>
          </a:xfrm>
          <a:prstGeom prst="line">
            <a:avLst/>
          </a:prstGeom>
          <a:ln w="15875">
            <a:solidFill>
              <a:srgbClr val="0F6C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52920" y="5118800"/>
            <a:ext cx="100000" cy="430000"/>
          </a:xfrm>
          <a:prstGeom prst="line">
            <a:avLst/>
          </a:prstGeom>
          <a:ln w="15875">
            <a:solidFill>
              <a:srgbClr val="C98A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852920" y="4438800"/>
            <a:ext cx="2400000" cy="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3892920" y="4558800"/>
            <a:ext cx="260000" cy="2600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7920" y="4613800"/>
            <a:ext cx="150000" cy="150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202920" y="4533800"/>
            <a:ext cx="20100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 Grid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2920" y="4758800"/>
            <a:ext cx="201000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 router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252920" y="4688800"/>
            <a:ext cx="200000" cy="0"/>
          </a:xfrm>
          <a:prstGeom prst="line">
            <a:avLst/>
          </a:prstGeom>
          <a:ln w="15875">
            <a:solidFill>
              <a:srgbClr val="0F6C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452920" y="4438800"/>
            <a:ext cx="2400000" cy="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492920" y="4558800"/>
            <a:ext cx="260000" cy="2600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7920" y="4613800"/>
            <a:ext cx="150000" cy="150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802920" y="4533800"/>
            <a:ext cx="20100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 App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2920" y="4758800"/>
            <a:ext cx="201000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approval gate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852920" y="4688800"/>
            <a:ext cx="200000" cy="0"/>
          </a:xfrm>
          <a:prstGeom prst="line">
            <a:avLst/>
          </a:prstGeom>
          <a:ln w="15875">
            <a:solidFill>
              <a:srgbClr val="0F6C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052920" y="4438800"/>
            <a:ext cx="2400000" cy="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092920" y="4558800"/>
            <a:ext cx="260000" cy="2600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7920" y="4613800"/>
            <a:ext cx="150000" cy="1500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402920" y="4533800"/>
            <a:ext cx="20100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Function App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2920" y="4758800"/>
            <a:ext cx="201000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auto-remediate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52920" y="5298800"/>
            <a:ext cx="2400000" cy="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3892920" y="5418800"/>
            <a:ext cx="260000" cy="260000"/>
          </a:xfrm>
          <a:prstGeom prst="ellipse">
            <a:avLst/>
          </a:prstGeom>
          <a:solidFill>
            <a:srgbClr val="C98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7920" y="5473800"/>
            <a:ext cx="150000" cy="1500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202920" y="5393800"/>
            <a:ext cx="20100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EventBridge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2920" y="5618800"/>
            <a:ext cx="201000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 router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252920" y="5548800"/>
            <a:ext cx="200000" cy="0"/>
          </a:xfrm>
          <a:prstGeom prst="line">
            <a:avLst/>
          </a:prstGeom>
          <a:ln w="15875">
            <a:solidFill>
              <a:srgbClr val="C98A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452920" y="5298800"/>
            <a:ext cx="2400000" cy="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492920" y="5418800"/>
            <a:ext cx="260000" cy="260000"/>
          </a:xfrm>
          <a:prstGeom prst="ellipse">
            <a:avLst/>
          </a:prstGeom>
          <a:solidFill>
            <a:srgbClr val="C98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7920" y="5473800"/>
            <a:ext cx="150000" cy="150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802920" y="5393800"/>
            <a:ext cx="20100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Functions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02920" y="5618800"/>
            <a:ext cx="201000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approval gate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852920" y="5548800"/>
            <a:ext cx="200000" cy="0"/>
          </a:xfrm>
          <a:prstGeom prst="line">
            <a:avLst/>
          </a:prstGeom>
          <a:ln w="15875">
            <a:solidFill>
              <a:srgbClr val="C98A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9052920" y="5298800"/>
            <a:ext cx="2400000" cy="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9092920" y="5418800"/>
            <a:ext cx="260000" cy="260000"/>
          </a:xfrm>
          <a:prstGeom prst="ellipse">
            <a:avLst/>
          </a:prstGeom>
          <a:solidFill>
            <a:srgbClr val="C98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7920" y="5473800"/>
            <a:ext cx="150000" cy="1500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402920" y="5393800"/>
            <a:ext cx="20100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Lambda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02920" y="5618800"/>
            <a:ext cx="201000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auto-remediate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2920" y="4434800"/>
            <a:ext cx="1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AZURE PATH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42920" y="5804800"/>
            <a:ext cx="1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C98A2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AWS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Findings Consolidation: One Canonical Schema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that makes the entire pipeline cloud-agnostic.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650000"/>
            <a:ext cx="2468880" cy="42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50000"/>
            <a:ext cx="237744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Prowler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CSV / JSON-OCSF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17520" y="1860000"/>
            <a:ext cx="1234440" cy="0"/>
          </a:xfrm>
          <a:prstGeom prst="line">
            <a:avLst/>
          </a:prstGeom>
          <a:noFill/>
          <a:ln w="22225">
            <a:solidFill>
              <a:srgbClr val="5A6A7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2140000"/>
            <a:ext cx="2468880" cy="42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1A8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0000"/>
            <a:ext cx="237744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ScoutSuite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017520" y="2350000"/>
            <a:ext cx="1234440" cy="0"/>
          </a:xfrm>
          <a:prstGeom prst="line">
            <a:avLst/>
          </a:prstGeom>
          <a:noFill/>
          <a:ln w="22225">
            <a:solidFill>
              <a:srgbClr val="5A6A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2630000"/>
            <a:ext cx="2468880" cy="42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C98A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30000"/>
            <a:ext cx="237744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Steampipe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SQL rows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017520" y="2840000"/>
            <a:ext cx="1234440" cy="0"/>
          </a:xfrm>
          <a:prstGeom prst="line">
            <a:avLst/>
          </a:prstGeom>
          <a:noFill/>
          <a:ln w="22225">
            <a:solidFill>
              <a:srgbClr val="5A6A7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97680" y="1850000"/>
            <a:ext cx="2286000" cy="1050000"/>
          </a:xfrm>
          <a:prstGeom prst="roundRect">
            <a:avLst>
              <a:gd name="adj" fmla="val 3158"/>
            </a:avLst>
          </a:prstGeom>
          <a:solidFill>
            <a:srgbClr val="0B1F3A"/>
          </a:solidFill>
          <a:ln/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50680" y="1950000"/>
            <a:ext cx="380000" cy="38000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9" name="Image 0" descr="/sessions/nice-ecstatic-meitner/mnt/outputs/asset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180" y="2052500"/>
            <a:ext cx="175000" cy="175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43400" y="2370000"/>
            <a:ext cx="219456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(data_loader)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343400" y="2690000"/>
            <a:ext cx="2194560" cy="1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schema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583680" y="2375000"/>
            <a:ext cx="1143000" cy="0"/>
          </a:xfrm>
          <a:prstGeom prst="line">
            <a:avLst/>
          </a:prstGeom>
          <a:noFill/>
          <a:ln w="25400">
            <a:solidFill>
              <a:srgbClr val="11A88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726680" y="2105000"/>
            <a:ext cx="1904676" cy="4200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66680" y="2185000"/>
            <a:ext cx="260000" cy="26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5" name="Image 1" descr="/sessions/nice-ecstatic-meitner/mnt/outputs/asset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680" y="2255000"/>
            <a:ext cx="120000" cy="1200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056680" y="2105000"/>
            <a:ext cx="1534676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9781356" y="2105000"/>
            <a:ext cx="1904676" cy="4200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821356" y="2185000"/>
            <a:ext cx="260000" cy="26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9" name="Image 2" descr="/sessions/nice-ecstatic-meitner/mnt/outputs/asset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356" y="2255000"/>
            <a:ext cx="120000" cy="1200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111356" y="2105000"/>
            <a:ext cx="1534676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 layer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7726680" y="2625000"/>
            <a:ext cx="1904676" cy="4200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66680" y="2705000"/>
            <a:ext cx="260000" cy="26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3" name="Image 3" descr="/sessions/nice-ecstatic-meitner/mnt/outputs/assets/slid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680" y="2775000"/>
            <a:ext cx="120000" cy="1200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056680" y="2625000"/>
            <a:ext cx="1534676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Approval dashboard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9781356" y="2625000"/>
            <a:ext cx="1904676" cy="4200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821356" y="2705000"/>
            <a:ext cx="260000" cy="26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7" name="Image 4" descr="/sessions/nice-ecstatic-meitner/mnt/outputs/assets/clou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1356" y="2775000"/>
            <a:ext cx="120000" cy="1200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111356" y="2625000"/>
            <a:ext cx="1534676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Azure ▸ AWS plug-in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413004" y="5974268"/>
            <a:ext cx="11183112" cy="500000"/>
          </a:xfrm>
          <a:prstGeom prst="roundRect">
            <a:avLst>
              <a:gd name="adj" fmla="val 11111"/>
            </a:avLst>
          </a:prstGeom>
          <a:solidFill>
            <a:srgbClr val="D7F1EB"/>
          </a:solidFill>
          <a:ln/>
        </p:spPr>
      </p:sp>
      <p:sp>
        <p:nvSpPr>
          <p:cNvPr id="40" name="Shape 33"/>
          <p:cNvSpPr/>
          <p:nvPr/>
        </p:nvSpPr>
        <p:spPr>
          <a:xfrm>
            <a:off x="559308" y="6041388"/>
            <a:ext cx="365760" cy="36576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41" name="Image 5" descr="/sessions/nice-ecstatic-meitner/mnt/outputs/asset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63" y="6140143"/>
            <a:ext cx="168250" cy="16825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71372" y="6044268"/>
            <a:ext cx="10396728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cloud by adding a conforming CSV - zero downstream code changes. That is platform thinking.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518160" y="3159631"/>
            <a:ext cx="11155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Engine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3" name="Text 5"/>
          <p:cNvSpPr/>
          <p:nvPr/>
        </p:nvSpPr>
        <p:spPr>
          <a:xfrm>
            <a:off x="527304" y="3429631"/>
            <a:ext cx="111556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Turning 68 raw failures into a ranked, defensible backlog.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4" name="Shape 6"/>
          <p:cNvSpPr/>
          <p:nvPr/>
        </p:nvSpPr>
        <p:spPr>
          <a:xfrm>
            <a:off x="518160" y="3669631"/>
            <a:ext cx="2468880" cy="950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45" name="Shape 7"/>
          <p:cNvSpPr/>
          <p:nvPr/>
        </p:nvSpPr>
        <p:spPr>
          <a:xfrm>
            <a:off x="1587600" y="3759631"/>
            <a:ext cx="330000" cy="330000"/>
          </a:xfrm>
          <a:prstGeom prst="ellipse">
            <a:avLst/>
          </a:prstGeom>
          <a:solidFill>
            <a:srgbClr val="C0392B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46" name="Picture 34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600" y="3849631"/>
            <a:ext cx="150000" cy="150000"/>
          </a:xfrm>
          <a:prstGeom prst="rect">
            <a:avLst/>
          </a:prstGeom>
        </p:spPr>
      </p:pic>
      <p:sp>
        <p:nvSpPr>
          <p:cNvPr id="43" name="Text 8"/>
          <p:cNvSpPr/>
          <p:nvPr/>
        </p:nvSpPr>
        <p:spPr>
          <a:xfrm>
            <a:off x="518160" y="4129631"/>
            <a:ext cx="246888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7" name="Text 9"/>
          <p:cNvSpPr/>
          <p:nvPr/>
        </p:nvSpPr>
        <p:spPr>
          <a:xfrm>
            <a:off x="609600" y="4389631"/>
            <a:ext cx="2286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severity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" name="Shape 11"/>
          <p:cNvSpPr/>
          <p:nvPr/>
        </p:nvSpPr>
        <p:spPr>
          <a:xfrm>
            <a:off x="3261360" y="3669631"/>
            <a:ext cx="2468880" cy="950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49" name="Shape 12"/>
          <p:cNvSpPr/>
          <p:nvPr/>
        </p:nvSpPr>
        <p:spPr>
          <a:xfrm>
            <a:off x="4330800" y="3759631"/>
            <a:ext cx="330000" cy="330000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50" name="Picture 34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0800" y="3849631"/>
            <a:ext cx="150000" cy="150000"/>
          </a:xfrm>
          <a:prstGeom prst="rect">
            <a:avLst/>
          </a:prstGeom>
        </p:spPr>
      </p:pic>
      <p:sp>
        <p:nvSpPr>
          <p:cNvPr id="44" name="Text 13"/>
          <p:cNvSpPr/>
          <p:nvPr/>
        </p:nvSpPr>
        <p:spPr>
          <a:xfrm>
            <a:off x="3261360" y="4129631"/>
            <a:ext cx="246888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1" name="Text 14"/>
          <p:cNvSpPr/>
          <p:nvPr/>
        </p:nvSpPr>
        <p:spPr>
          <a:xfrm>
            <a:off x="3352800" y="4389631"/>
            <a:ext cx="2286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 vs internal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2" name="Shape 16"/>
          <p:cNvSpPr/>
          <p:nvPr/>
        </p:nvSpPr>
        <p:spPr>
          <a:xfrm>
            <a:off x="6004560" y="3669631"/>
            <a:ext cx="2468880" cy="950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53" name="Shape 17"/>
          <p:cNvSpPr/>
          <p:nvPr/>
        </p:nvSpPr>
        <p:spPr>
          <a:xfrm>
            <a:off x="7074000" y="3759631"/>
            <a:ext cx="330000" cy="3300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54" name="Picture 35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4000" y="3849631"/>
            <a:ext cx="150000" cy="150000"/>
          </a:xfrm>
          <a:prstGeom prst="rect">
            <a:avLst/>
          </a:prstGeom>
        </p:spPr>
      </p:pic>
      <p:sp>
        <p:nvSpPr>
          <p:cNvPr id="45" name="Text 18"/>
          <p:cNvSpPr/>
          <p:nvPr/>
        </p:nvSpPr>
        <p:spPr>
          <a:xfrm>
            <a:off x="6004560" y="4129631"/>
            <a:ext cx="246888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5" name="Text 19"/>
          <p:cNvSpPr/>
          <p:nvPr/>
        </p:nvSpPr>
        <p:spPr>
          <a:xfrm>
            <a:off x="6096000" y="4389631"/>
            <a:ext cx="2286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else it touches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6" name="Text 10"/>
          <p:cNvSpPr/>
          <p:nvPr/>
        </p:nvSpPr>
        <p:spPr>
          <a:xfrm>
            <a:off x="2987040" y="3944631"/>
            <a:ext cx="27432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Text 15"/>
          <p:cNvSpPr/>
          <p:nvPr/>
        </p:nvSpPr>
        <p:spPr>
          <a:xfrm>
            <a:off x="5730240" y="3944631"/>
            <a:ext cx="27432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8" name="Text 20"/>
          <p:cNvSpPr/>
          <p:nvPr/>
        </p:nvSpPr>
        <p:spPr>
          <a:xfrm>
            <a:off x="8702040" y="3944631"/>
            <a:ext cx="3657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Shape 21"/>
          <p:cNvSpPr/>
          <p:nvPr/>
        </p:nvSpPr>
        <p:spPr>
          <a:xfrm>
            <a:off x="9113520" y="3669631"/>
            <a:ext cx="2587752" cy="950000"/>
          </a:xfrm>
          <a:prstGeom prst="roundRect">
            <a:avLst>
              <a:gd name="adj" fmla="val 3158"/>
            </a:avLst>
          </a:prstGeom>
          <a:solidFill>
            <a:srgbClr val="0B1F3A"/>
          </a:solidFill>
          <a:ln/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60" name="Text 22"/>
          <p:cNvSpPr/>
          <p:nvPr/>
        </p:nvSpPr>
        <p:spPr>
          <a:xfrm>
            <a:off x="9113520" y="3869631"/>
            <a:ext cx="2587752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Text 23"/>
          <p:cNvSpPr/>
          <p:nvPr/>
        </p:nvSpPr>
        <p:spPr>
          <a:xfrm>
            <a:off x="9113520" y="4199631"/>
            <a:ext cx="2587752" cy="1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single, sortable value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2" name="Text 24"/>
          <p:cNvSpPr/>
          <p:nvPr/>
        </p:nvSpPr>
        <p:spPr>
          <a:xfrm>
            <a:off x="518160" y="4679631"/>
            <a:ext cx="73152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- top of the backlog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Text 25"/>
          <p:cNvSpPr/>
          <p:nvPr/>
        </p:nvSpPr>
        <p:spPr>
          <a:xfrm>
            <a:off x="518160" y="4959631"/>
            <a:ext cx="4572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Public SQL firewall (internet-facing DB)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4" name="Shape 26"/>
          <p:cNvSpPr/>
          <p:nvPr/>
        </p:nvSpPr>
        <p:spPr>
          <a:xfrm>
            <a:off x="5227320" y="4989631"/>
            <a:ext cx="5669280" cy="140000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/>
        </p:spPr>
      </p:sp>
      <p:sp>
        <p:nvSpPr>
          <p:cNvPr id="365" name="Shape 27"/>
          <p:cNvSpPr/>
          <p:nvPr/>
        </p:nvSpPr>
        <p:spPr>
          <a:xfrm>
            <a:off x="5227320" y="4989631"/>
            <a:ext cx="5385816" cy="1400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66" name="Text 28"/>
          <p:cNvSpPr/>
          <p:nvPr/>
        </p:nvSpPr>
        <p:spPr>
          <a:xfrm>
            <a:off x="10942320" y="4959631"/>
            <a:ext cx="73152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7" name="Text 29"/>
          <p:cNvSpPr/>
          <p:nvPr/>
        </p:nvSpPr>
        <p:spPr>
          <a:xfrm>
            <a:off x="518160" y="5174631"/>
            <a:ext cx="4572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Public storage 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8" name="Shape 30"/>
          <p:cNvSpPr/>
          <p:nvPr/>
        </p:nvSpPr>
        <p:spPr>
          <a:xfrm>
            <a:off x="5227320" y="5204631"/>
            <a:ext cx="5669280" cy="140000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/>
        </p:spPr>
      </p:sp>
      <p:sp>
        <p:nvSpPr>
          <p:cNvPr id="369" name="Shape 31"/>
          <p:cNvSpPr/>
          <p:nvPr/>
        </p:nvSpPr>
        <p:spPr>
          <a:xfrm>
            <a:off x="5227320" y="5204631"/>
            <a:ext cx="4988966" cy="1400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70" name="Text 32"/>
          <p:cNvSpPr/>
          <p:nvPr/>
        </p:nvSpPr>
        <p:spPr>
          <a:xfrm>
            <a:off x="10942320" y="5174631"/>
            <a:ext cx="73152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1" name="Text 33"/>
          <p:cNvSpPr/>
          <p:nvPr/>
        </p:nvSpPr>
        <p:spPr>
          <a:xfrm>
            <a:off x="518160" y="5389631"/>
            <a:ext cx="4572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SSH open to 0.0.0.0/0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2" name="Shape 34"/>
          <p:cNvSpPr/>
          <p:nvPr/>
        </p:nvSpPr>
        <p:spPr>
          <a:xfrm>
            <a:off x="5227320" y="5419631"/>
            <a:ext cx="5669280" cy="140000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/>
        </p:spPr>
      </p:sp>
      <p:sp>
        <p:nvSpPr>
          <p:cNvPr id="373" name="Shape 35"/>
          <p:cNvSpPr/>
          <p:nvPr/>
        </p:nvSpPr>
        <p:spPr>
          <a:xfrm>
            <a:off x="5227320" y="5419631"/>
            <a:ext cx="4195267" cy="140000"/>
          </a:xfrm>
          <a:prstGeom prst="roundRect">
            <a:avLst>
              <a:gd name="adj" fmla="val 50000"/>
            </a:avLst>
          </a:prstGeom>
          <a:solidFill>
            <a:srgbClr val="C98A21"/>
          </a:solidFill>
          <a:ln/>
        </p:spPr>
      </p:sp>
      <p:sp>
        <p:nvSpPr>
          <p:cNvPr id="374" name="Text 36"/>
          <p:cNvSpPr/>
          <p:nvPr/>
        </p:nvSpPr>
        <p:spPr>
          <a:xfrm>
            <a:off x="10942320" y="5389631"/>
            <a:ext cx="73152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C98A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Text 37"/>
          <p:cNvSpPr/>
          <p:nvPr/>
        </p:nvSpPr>
        <p:spPr>
          <a:xfrm>
            <a:off x="518160" y="5604631"/>
            <a:ext cx="4572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disabled (internal)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6" name="Shape 38"/>
          <p:cNvSpPr/>
          <p:nvPr/>
        </p:nvSpPr>
        <p:spPr>
          <a:xfrm>
            <a:off x="5227320" y="5634631"/>
            <a:ext cx="5669280" cy="140000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/>
        </p:spPr>
      </p:sp>
      <p:sp>
        <p:nvSpPr>
          <p:cNvPr id="377" name="Shape 39"/>
          <p:cNvSpPr/>
          <p:nvPr/>
        </p:nvSpPr>
        <p:spPr>
          <a:xfrm>
            <a:off x="5227320" y="5634631"/>
            <a:ext cx="2324405" cy="1400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78" name="Text 40"/>
          <p:cNvSpPr/>
          <p:nvPr/>
        </p:nvSpPr>
        <p:spPr>
          <a:xfrm>
            <a:off x="10942320" y="5604631"/>
            <a:ext cx="73152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Grounds the Prioritization Engine</a:t>
            </a:r>
            <a:endParaRPr lang="en-US" sz="2900" dirty="0"/>
          </a:p>
        </p:txBody>
      </p:sp>
      <p:sp>
        <p:nvSpPr>
          <p:cNvPr id="46" name="Rectangle 45"/>
          <p:cNvSpPr/>
          <p:nvPr/>
        </p:nvSpPr>
        <p:spPr>
          <a:xfrm>
            <a:off x="773395" y="1850000"/>
            <a:ext cx="19050" cy="3900000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48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900" dirty="0"/>
          </a:p>
        </p:txBody>
      </p:sp>
      <p:sp>
        <p:nvSpPr>
          <p:cNvPr id="49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08</a:t>
            </a:r>
          </a:p>
        </p:txBody>
      </p:sp>
      <p:sp>
        <p:nvSpPr>
          <p:cNvPr id="50" name="Text 5"/>
          <p:cNvSpPr/>
          <p:nvPr/>
        </p:nvSpPr>
        <p:spPr>
          <a:xfrm>
            <a:off x="490000" y="10654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remediation suggestion is traced to a cited compliance control, not the model’s memory. (week2_prioritization_Rag_updated.ipynb)</a:t>
            </a:r>
            <a:endParaRPr lang="en-US" sz="1350" dirty="0"/>
          </a:p>
        </p:txBody>
      </p:sp>
      <p:sp>
        <p:nvSpPr>
          <p:cNvPr id="51" name="Oval 50"/>
          <p:cNvSpPr/>
          <p:nvPr/>
        </p:nvSpPr>
        <p:spPr>
          <a:xfrm>
            <a:off x="592920" y="1660000"/>
            <a:ext cx="380000" cy="3800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2920" y="166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3920" y="1650000"/>
            <a:ext cx="6339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Knowledge Base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3920" y="1862000"/>
            <a:ext cx="6339000" cy="150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 dirty="0">
                <a:solidFill>
                  <a:srgbClr val="5A6A7F"/>
                </a:solidFill>
                <a:latin typeface="Calibri"/>
              </a:rPr>
              <a:t>25 control-guidance chunks from CIS, MCSB, ISO 27001, DPDP Act, and HIPAA </a:t>
            </a:r>
            <a:r>
              <a:rPr lang="en-IN" sz="950" b="0" i="0" dirty="0">
                <a:solidFill>
                  <a:srgbClr val="5A6A7F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5A6A7F"/>
                </a:solidFill>
                <a:latin typeface="Calibri"/>
              </a:rPr>
              <a:t> each citing a source URL.</a:t>
            </a:r>
          </a:p>
        </p:txBody>
      </p:sp>
      <p:sp>
        <p:nvSpPr>
          <p:cNvPr id="55" name="Rounded Rectangle 11"/>
          <p:cNvSpPr/>
          <p:nvPr/>
        </p:nvSpPr>
        <p:spPr>
          <a:xfrm>
            <a:off x="1163920" y="2174000"/>
            <a:ext cx="870000" cy="190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63920" y="2174000"/>
            <a:ext cx="740000" cy="1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0B1F3A"/>
                </a:solidFill>
                <a:latin typeface="Consolas"/>
              </a:rPr>
              <a:t>CONTROL_KB</a:t>
            </a:r>
          </a:p>
        </p:txBody>
      </p:sp>
      <p:sp>
        <p:nvSpPr>
          <p:cNvPr id="57" name="Oval 56"/>
          <p:cNvSpPr/>
          <p:nvPr/>
        </p:nvSpPr>
        <p:spPr>
          <a:xfrm>
            <a:off x="592920" y="2440000"/>
            <a:ext cx="380000" cy="380000"/>
          </a:xfrm>
          <a:prstGeom prst="ellipse">
            <a:avLst/>
          </a:prstGeom>
          <a:solidFill>
            <a:srgbClr val="11A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2920" y="244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3920" y="2430000"/>
            <a:ext cx="6339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Hybrid Retrieval Index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3920" y="2642000"/>
            <a:ext cx="633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A6A7F"/>
                </a:solidFill>
                <a:latin typeface="Calibri"/>
              </a:rPr>
              <a:t>TF-IDF (0.4) for exact terms + NVIDIA NIM embeddings (0.6) for semantic matches, scoped by cloud + service.</a:t>
            </a:r>
          </a:p>
        </p:txBody>
      </p:sp>
      <p:sp>
        <p:nvSpPr>
          <p:cNvPr id="61" name="Rounded Rectangle 17"/>
          <p:cNvSpPr/>
          <p:nvPr/>
        </p:nvSpPr>
        <p:spPr>
          <a:xfrm>
            <a:off x="1163920" y="2954000"/>
            <a:ext cx="1715000" cy="190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63920" y="2954000"/>
            <a:ext cx="1585000" cy="1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0B1F3A"/>
                </a:solidFill>
                <a:latin typeface="Consolas"/>
              </a:rPr>
              <a:t>nvidia/nv-embedqa-e5-v5</a:t>
            </a:r>
          </a:p>
        </p:txBody>
      </p:sp>
      <p:sp>
        <p:nvSpPr>
          <p:cNvPr id="63" name="Oval 62"/>
          <p:cNvSpPr/>
          <p:nvPr/>
        </p:nvSpPr>
        <p:spPr>
          <a:xfrm>
            <a:off x="592920" y="3220000"/>
            <a:ext cx="380000" cy="380000"/>
          </a:xfrm>
          <a:prstGeom prst="ellipse">
            <a:avLst/>
          </a:prstGeom>
          <a:solidFill>
            <a:srgbClr val="C98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TextBox 319"/>
          <p:cNvSpPr txBox="1"/>
          <p:nvPr/>
        </p:nvSpPr>
        <p:spPr>
          <a:xfrm>
            <a:off x="592920" y="322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163920" y="3210000"/>
            <a:ext cx="6339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Retrieval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163920" y="3422000"/>
            <a:ext cx="633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A6A7F"/>
                </a:solidFill>
                <a:latin typeface="Calibri"/>
              </a:rPr>
              <a:t>Finding title + detail becomes the query; the top-1 matching control is retrieved from the scoped pool.</a:t>
            </a:r>
          </a:p>
        </p:txBody>
      </p:sp>
      <p:sp>
        <p:nvSpPr>
          <p:cNvPr id="323" name="Rounded Rectangle 23"/>
          <p:cNvSpPr/>
          <p:nvPr/>
        </p:nvSpPr>
        <p:spPr>
          <a:xfrm>
            <a:off x="1163920" y="3734000"/>
            <a:ext cx="805000" cy="190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323"/>
          <p:cNvSpPr txBox="1"/>
          <p:nvPr/>
        </p:nvSpPr>
        <p:spPr>
          <a:xfrm>
            <a:off x="1263920" y="3734000"/>
            <a:ext cx="675000" cy="1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0B1F3A"/>
                </a:solidFill>
                <a:latin typeface="Consolas"/>
              </a:rPr>
              <a:t>top_k = 1</a:t>
            </a:r>
          </a:p>
        </p:txBody>
      </p:sp>
      <p:sp>
        <p:nvSpPr>
          <p:cNvPr id="325" name="Oval 324"/>
          <p:cNvSpPr/>
          <p:nvPr/>
        </p:nvSpPr>
        <p:spPr>
          <a:xfrm>
            <a:off x="592920" y="4000000"/>
            <a:ext cx="380000" cy="3800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TextBox 325"/>
          <p:cNvSpPr txBox="1"/>
          <p:nvPr/>
        </p:nvSpPr>
        <p:spPr>
          <a:xfrm>
            <a:off x="592920" y="400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63920" y="3990000"/>
            <a:ext cx="6339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Grounded Generation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163920" y="4202000"/>
            <a:ext cx="6339000" cy="150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 dirty="0">
                <a:solidFill>
                  <a:srgbClr val="5A6A7F"/>
                </a:solidFill>
                <a:latin typeface="Calibri"/>
              </a:rPr>
              <a:t>Retrieved control text grounds the system prompt </a:t>
            </a:r>
            <a:r>
              <a:rPr lang="en-IN" sz="950" b="0" i="0" dirty="0">
                <a:solidFill>
                  <a:srgbClr val="5A6A7F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5A6A7F"/>
                </a:solidFill>
                <a:latin typeface="Calibri"/>
              </a:rPr>
              <a:t> the LLM paraphrases it into exactly 2 lines, no invented facts.</a:t>
            </a:r>
          </a:p>
        </p:txBody>
      </p:sp>
      <p:sp>
        <p:nvSpPr>
          <p:cNvPr id="329" name="Rounded Rectangle 29"/>
          <p:cNvSpPr/>
          <p:nvPr/>
        </p:nvSpPr>
        <p:spPr>
          <a:xfrm>
            <a:off x="1163920" y="4514000"/>
            <a:ext cx="3340000" cy="190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TextBox 329"/>
          <p:cNvSpPr txBox="1"/>
          <p:nvPr/>
        </p:nvSpPr>
        <p:spPr>
          <a:xfrm>
            <a:off x="1263920" y="4543437"/>
            <a:ext cx="3210000" cy="1311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 dirty="0">
                <a:solidFill>
                  <a:srgbClr val="0B1F3A"/>
                </a:solidFill>
                <a:latin typeface="Consolas"/>
              </a:rPr>
              <a:t>meta/llama-3.1-8b-instruct</a:t>
            </a:r>
          </a:p>
        </p:txBody>
      </p:sp>
      <p:sp>
        <p:nvSpPr>
          <p:cNvPr id="331" name="Oval 330"/>
          <p:cNvSpPr/>
          <p:nvPr/>
        </p:nvSpPr>
        <p:spPr>
          <a:xfrm>
            <a:off x="592920" y="4780000"/>
            <a:ext cx="380000" cy="380000"/>
          </a:xfrm>
          <a:prstGeom prst="ellipse">
            <a:avLst/>
          </a:prstGeom>
          <a:solidFill>
            <a:srgbClr val="11A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592920" y="478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163920" y="4770000"/>
            <a:ext cx="6339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Semantic Verification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163920" y="4982000"/>
            <a:ext cx="633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A6A7F"/>
                </a:solidFill>
                <a:latin typeface="Calibri"/>
              </a:rPr>
              <a:t>Guidance embedding is compared to the retrieved control's embedding; low-similarity matches are flagged for review.</a:t>
            </a:r>
          </a:p>
        </p:txBody>
      </p:sp>
      <p:sp>
        <p:nvSpPr>
          <p:cNvPr id="335" name="Rounded Rectangle 35"/>
          <p:cNvSpPr/>
          <p:nvPr/>
        </p:nvSpPr>
        <p:spPr>
          <a:xfrm>
            <a:off x="1163920" y="5294000"/>
            <a:ext cx="1780000" cy="190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1263920" y="5294000"/>
            <a:ext cx="1650000" cy="1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0B1F3A"/>
                </a:solidFill>
                <a:latin typeface="Consolas"/>
              </a:rPr>
              <a:t>cosine similarity ≥ 0.55</a:t>
            </a:r>
          </a:p>
        </p:txBody>
      </p:sp>
      <p:sp>
        <p:nvSpPr>
          <p:cNvPr id="337" name="Oval 336"/>
          <p:cNvSpPr/>
          <p:nvPr/>
        </p:nvSpPr>
        <p:spPr>
          <a:xfrm>
            <a:off x="592920" y="5560000"/>
            <a:ext cx="380000" cy="3800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TextBox 337"/>
          <p:cNvSpPr txBox="1"/>
          <p:nvPr/>
        </p:nvSpPr>
        <p:spPr>
          <a:xfrm>
            <a:off x="592920" y="556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163920" y="5550000"/>
            <a:ext cx="6339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Audit Trail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163920" y="5762000"/>
            <a:ext cx="633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A6A7F"/>
                </a:solidFill>
                <a:latin typeface="Calibri"/>
              </a:rPr>
              <a:t>Control reference, framework, source URL, and similarity score are logged to CSV for every finding.</a:t>
            </a:r>
          </a:p>
        </p:txBody>
      </p:sp>
      <p:sp>
        <p:nvSpPr>
          <p:cNvPr id="341" name="Rounded Rectangle 41"/>
          <p:cNvSpPr/>
          <p:nvPr/>
        </p:nvSpPr>
        <p:spPr>
          <a:xfrm>
            <a:off x="1163920" y="6074000"/>
            <a:ext cx="1715000" cy="190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TextBox 378"/>
          <p:cNvSpPr txBox="1"/>
          <p:nvPr/>
        </p:nvSpPr>
        <p:spPr>
          <a:xfrm>
            <a:off x="1263920" y="6074000"/>
            <a:ext cx="1585000" cy="1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0B1F3A"/>
                </a:solidFill>
                <a:latin typeface="Consolas"/>
              </a:rPr>
              <a:t>rag_retrieval_audit.csv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7750000" y="1650000"/>
            <a:ext cx="393568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00" dirty="0">
                <a:solidFill>
                  <a:srgbClr val="0F6CBD"/>
                </a:solidFill>
                <a:latin typeface="Calibri"/>
              </a:rPr>
              <a:t>PIPELINE PARAMETERS</a:t>
            </a:r>
          </a:p>
        </p:txBody>
      </p:sp>
      <p:sp>
        <p:nvSpPr>
          <p:cNvPr id="381" name="Rounded Rectangle 45"/>
          <p:cNvSpPr/>
          <p:nvPr/>
        </p:nvSpPr>
        <p:spPr>
          <a:xfrm>
            <a:off x="7750000" y="1930000"/>
            <a:ext cx="3935680" cy="9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7790000" y="1970000"/>
            <a:ext cx="260000" cy="2600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3" name="Picture 38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000" y="2025000"/>
            <a:ext cx="150000" cy="150000"/>
          </a:xfrm>
          <a:prstGeom prst="rect">
            <a:avLst/>
          </a:prstGeom>
        </p:spPr>
      </p:pic>
      <p:sp>
        <p:nvSpPr>
          <p:cNvPr id="384" name="TextBox 383"/>
          <p:cNvSpPr txBox="1"/>
          <p:nvPr/>
        </p:nvSpPr>
        <p:spPr>
          <a:xfrm>
            <a:off x="8080000" y="1985000"/>
            <a:ext cx="356568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 spc="60">
                <a:solidFill>
                  <a:srgbClr val="5A6A7F"/>
                </a:solidFill>
                <a:latin typeface="Calibri"/>
              </a:rPr>
              <a:t>KNOWLEDGE BASE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790000" y="2190000"/>
            <a:ext cx="385568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 dirty="0">
                <a:solidFill>
                  <a:srgbClr val="0B1F3A"/>
                </a:solidFill>
                <a:latin typeface="Calibri"/>
              </a:rPr>
              <a:t>25 chunks · 6 frameworks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7790000" y="2490000"/>
            <a:ext cx="385568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dirty="0">
                <a:solidFill>
                  <a:srgbClr val="5A6A7F"/>
                </a:solidFill>
                <a:latin typeface="Calibri"/>
              </a:rPr>
              <a:t>CIS · MCSB · ISO 27001 Annex A · DPDP Act 2023 · HIPAA</a:t>
            </a:r>
          </a:p>
        </p:txBody>
      </p:sp>
      <p:sp>
        <p:nvSpPr>
          <p:cNvPr id="387" name="Rounded Rectangle 51"/>
          <p:cNvSpPr/>
          <p:nvPr/>
        </p:nvSpPr>
        <p:spPr>
          <a:xfrm>
            <a:off x="7750000" y="2960000"/>
            <a:ext cx="3935680" cy="9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TextBox 387"/>
          <p:cNvSpPr txBox="1"/>
          <p:nvPr/>
        </p:nvSpPr>
        <p:spPr>
          <a:xfrm>
            <a:off x="7790000" y="3015000"/>
            <a:ext cx="385568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 spc="60">
                <a:solidFill>
                  <a:srgbClr val="5A6A7F"/>
                </a:solidFill>
                <a:latin typeface="Calibri"/>
              </a:rPr>
              <a:t>HYBRID RETRIEVAL WEIGHTS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790000" y="3280000"/>
            <a:ext cx="1542272" cy="260000"/>
          </a:xfrm>
          <a:prstGeom prst="rect">
            <a:avLst/>
          </a:prstGeom>
          <a:solidFill>
            <a:srgbClr val="11A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Rectangle 389"/>
          <p:cNvSpPr/>
          <p:nvPr/>
        </p:nvSpPr>
        <p:spPr>
          <a:xfrm>
            <a:off x="9332272" y="3280000"/>
            <a:ext cx="2313408" cy="26000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TextBox 390"/>
          <p:cNvSpPr txBox="1"/>
          <p:nvPr/>
        </p:nvSpPr>
        <p:spPr>
          <a:xfrm>
            <a:off x="7790000" y="3570000"/>
            <a:ext cx="1542272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1A88E"/>
                </a:solidFill>
                <a:latin typeface="Calibri"/>
              </a:rPr>
              <a:t>TF-IDF  0.4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9332272" y="3570000"/>
            <a:ext cx="2313408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 i="0">
                <a:solidFill>
                  <a:srgbClr val="0F6CBD"/>
                </a:solidFill>
                <a:latin typeface="Calibri"/>
              </a:rPr>
              <a:t>Embeddings  0.6</a:t>
            </a:r>
          </a:p>
        </p:txBody>
      </p:sp>
      <p:sp>
        <p:nvSpPr>
          <p:cNvPr id="393" name="Rounded Rectangle 57"/>
          <p:cNvSpPr/>
          <p:nvPr/>
        </p:nvSpPr>
        <p:spPr>
          <a:xfrm>
            <a:off x="7750000" y="3990000"/>
            <a:ext cx="3935680" cy="9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7790000" y="4030000"/>
            <a:ext cx="260000" cy="260000"/>
          </a:xfrm>
          <a:prstGeom prst="ellipse">
            <a:avLst/>
          </a:prstGeom>
          <a:solidFill>
            <a:srgbClr val="11A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5" name="Picture 39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000" y="4085000"/>
            <a:ext cx="150000" cy="150000"/>
          </a:xfrm>
          <a:prstGeom prst="rect">
            <a:avLst/>
          </a:prstGeom>
        </p:spPr>
      </p:pic>
      <p:sp>
        <p:nvSpPr>
          <p:cNvPr id="396" name="TextBox 395"/>
          <p:cNvSpPr txBox="1"/>
          <p:nvPr/>
        </p:nvSpPr>
        <p:spPr>
          <a:xfrm>
            <a:off x="8080000" y="4045000"/>
            <a:ext cx="356568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 spc="60">
                <a:solidFill>
                  <a:srgbClr val="5A6A7F"/>
                </a:solidFill>
                <a:latin typeface="Calibri"/>
              </a:rPr>
              <a:t>GENERATION MODEL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7790000" y="4250000"/>
            <a:ext cx="385568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B1F3A"/>
                </a:solidFill>
                <a:latin typeface="Calibri"/>
              </a:rPr>
              <a:t>meta/llama-3.1-8b-instruct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7790000" y="4510000"/>
            <a:ext cx="3855680" cy="16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dirty="0">
                <a:solidFill>
                  <a:srgbClr val="5A6A7F"/>
                </a:solidFill>
                <a:latin typeface="Calibri"/>
              </a:rPr>
              <a:t>  via NVIDIA NIM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50000" y="5020000"/>
            <a:ext cx="3935680" cy="9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790000" y="5060000"/>
            <a:ext cx="260000" cy="2600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000" y="5115000"/>
            <a:ext cx="150000" cy="1500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080000" y="5075000"/>
            <a:ext cx="356568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 spc="60">
                <a:solidFill>
                  <a:srgbClr val="5A6A7F"/>
                </a:solidFill>
                <a:latin typeface="Calibri"/>
              </a:rPr>
              <a:t>VERIFICATION GATE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0000" y="5280000"/>
            <a:ext cx="385568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 dirty="0">
                <a:solidFill>
                  <a:srgbClr val="0B1F3A"/>
                </a:solidFill>
                <a:latin typeface="Calibri"/>
              </a:rPr>
              <a:t>cosine similarity ≥ 0.55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90000" y="5580000"/>
            <a:ext cx="385568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dirty="0">
                <a:solidFill>
                  <a:srgbClr val="5A6A7F"/>
                </a:solidFill>
                <a:latin typeface="Calibri"/>
              </a:rPr>
              <a:t>Below threshold → flagged REVIEW, not auto-published</a:t>
            </a:r>
          </a:p>
        </p:txBody>
      </p:sp>
    </p:spTree>
    <p:extLst>
      <p:ext uri="{BB962C8B-B14F-4D97-AF65-F5344CB8AC3E}">
        <p14:creationId xmlns:p14="http://schemas.microsoft.com/office/powerpoint/2010/main" val="348094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100"/>
              </a:lnSpc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Remediation Architecture</a:t>
            </a:r>
          </a:p>
        </p:txBody>
      </p:sp>
      <p:sp>
        <p:nvSpPr>
          <p:cNvPr id="47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48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900" dirty="0"/>
          </a:p>
        </p:txBody>
      </p:sp>
      <p:sp>
        <p:nvSpPr>
          <p:cNvPr id="49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" name="Shape 1"/>
          <p:cNvSpPr/>
          <p:nvPr/>
        </p:nvSpPr>
        <p:spPr>
          <a:xfrm>
            <a:off x="411480" y="2234233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44506B"/>
          </a:solidFill>
          <a:ln/>
        </p:spPr>
      </p:sp>
      <p:sp>
        <p:nvSpPr>
          <p:cNvPr id="3" name="Text 2"/>
          <p:cNvSpPr/>
          <p:nvPr/>
        </p:nvSpPr>
        <p:spPr>
          <a:xfrm>
            <a:off x="502920" y="2289097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Findings</a:t>
            </a:r>
            <a:endParaRPr lang="en-US" sz="1200" dirty="0"/>
          </a:p>
        </p:txBody>
      </p:sp>
      <p:sp>
        <p:nvSpPr>
          <p:cNvPr id="4" name="Text 3"/>
          <p:cNvSpPr/>
          <p:nvPr/>
        </p:nvSpPr>
        <p:spPr>
          <a:xfrm>
            <a:off x="502920" y="2636569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pipeline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880360" y="2234233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2971800" y="2289097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Topic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71800" y="263656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evgt-cloudguardian-findings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4600" y="2622853"/>
            <a:ext cx="36576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715000" y="1612441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3E7F2"/>
          </a:solidFill>
          <a:ln/>
        </p:spPr>
      </p:sp>
      <p:sp>
        <p:nvSpPr>
          <p:cNvPr id="70" name="Text 9"/>
          <p:cNvSpPr/>
          <p:nvPr/>
        </p:nvSpPr>
        <p:spPr>
          <a:xfrm>
            <a:off x="5806440" y="1667305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severity</a:t>
            </a:r>
            <a:endParaRPr lang="en-US" sz="1200" dirty="0"/>
          </a:p>
        </p:txBody>
      </p:sp>
      <p:sp>
        <p:nvSpPr>
          <p:cNvPr id="71" name="Text 10"/>
          <p:cNvSpPr/>
          <p:nvPr/>
        </p:nvSpPr>
        <p:spPr>
          <a:xfrm>
            <a:off x="5806440" y="2014777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filter: data.severity</a:t>
            </a:r>
            <a:endParaRPr lang="en-US" sz="900" dirty="0"/>
          </a:p>
        </p:txBody>
      </p:sp>
      <p:sp>
        <p:nvSpPr>
          <p:cNvPr id="72" name="Shape 11"/>
          <p:cNvSpPr/>
          <p:nvPr/>
        </p:nvSpPr>
        <p:spPr>
          <a:xfrm>
            <a:off x="5715000" y="2856025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3E7F2"/>
          </a:solidFill>
          <a:ln/>
        </p:spPr>
      </p:sp>
      <p:sp>
        <p:nvSpPr>
          <p:cNvPr id="73" name="Text 12"/>
          <p:cNvSpPr/>
          <p:nvPr/>
        </p:nvSpPr>
        <p:spPr>
          <a:xfrm>
            <a:off x="5806440" y="2910889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Critical severity</a:t>
            </a:r>
            <a:endParaRPr lang="en-US" sz="1200" dirty="0"/>
          </a:p>
        </p:txBody>
      </p:sp>
      <p:sp>
        <p:nvSpPr>
          <p:cNvPr id="74" name="Text 13"/>
          <p:cNvSpPr/>
          <p:nvPr/>
        </p:nvSpPr>
        <p:spPr>
          <a:xfrm>
            <a:off x="5806440" y="3258361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filter: data.severity</a:t>
            </a:r>
            <a:endParaRPr lang="en-US" sz="900" dirty="0"/>
          </a:p>
        </p:txBody>
      </p:sp>
      <p:sp>
        <p:nvSpPr>
          <p:cNvPr id="75" name="Shape 14"/>
          <p:cNvSpPr/>
          <p:nvPr/>
        </p:nvSpPr>
        <p:spPr>
          <a:xfrm flipV="1">
            <a:off x="5166360" y="2234233"/>
            <a:ext cx="548639" cy="38862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76" name="Shape 15"/>
          <p:cNvSpPr/>
          <p:nvPr/>
        </p:nvSpPr>
        <p:spPr>
          <a:xfrm>
            <a:off x="5166360" y="2622853"/>
            <a:ext cx="548640" cy="621792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77" name="Shape 16"/>
          <p:cNvSpPr/>
          <p:nvPr/>
        </p:nvSpPr>
        <p:spPr>
          <a:xfrm>
            <a:off x="8732520" y="1612441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3D8BFF"/>
          </a:solidFill>
          <a:ln/>
        </p:spPr>
      </p:sp>
      <p:sp>
        <p:nvSpPr>
          <p:cNvPr id="78" name="Text 17"/>
          <p:cNvSpPr/>
          <p:nvPr/>
        </p:nvSpPr>
        <p:spPr>
          <a:xfrm>
            <a:off x="8823960" y="1667305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App</a:t>
            </a:r>
            <a:endParaRPr lang="en-US" sz="1200" dirty="0"/>
          </a:p>
        </p:txBody>
      </p:sp>
      <p:sp>
        <p:nvSpPr>
          <p:cNvPr id="79" name="Text 18"/>
          <p:cNvSpPr/>
          <p:nvPr/>
        </p:nvSpPr>
        <p:spPr>
          <a:xfrm>
            <a:off x="8823960" y="2014777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auto_remediate (Event Grid trigger)</a:t>
            </a:r>
            <a:endParaRPr lang="en-US" sz="900" dirty="0"/>
          </a:p>
        </p:txBody>
      </p:sp>
      <p:sp>
        <p:nvSpPr>
          <p:cNvPr id="80" name="Shape 19"/>
          <p:cNvSpPr/>
          <p:nvPr/>
        </p:nvSpPr>
        <p:spPr>
          <a:xfrm>
            <a:off x="8183880" y="2001061"/>
            <a:ext cx="54864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81" name="Shape 20"/>
          <p:cNvSpPr/>
          <p:nvPr/>
        </p:nvSpPr>
        <p:spPr>
          <a:xfrm>
            <a:off x="8732520" y="2856025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6E4EBE"/>
          </a:solidFill>
          <a:ln/>
        </p:spPr>
      </p:sp>
      <p:sp>
        <p:nvSpPr>
          <p:cNvPr id="82" name="Text 21"/>
          <p:cNvSpPr/>
          <p:nvPr/>
        </p:nvSpPr>
        <p:spPr>
          <a:xfrm>
            <a:off x="8823960" y="2910889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</a:t>
            </a:r>
            <a:endParaRPr lang="en-US" sz="1200" dirty="0"/>
          </a:p>
        </p:txBody>
      </p:sp>
      <p:sp>
        <p:nvSpPr>
          <p:cNvPr id="83" name="Text 22"/>
          <p:cNvSpPr/>
          <p:nvPr/>
        </p:nvSpPr>
        <p:spPr>
          <a:xfrm>
            <a:off x="8823960" y="3258361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(ACS Email)</a:t>
            </a:r>
            <a:endParaRPr lang="en-US" sz="900" dirty="0"/>
          </a:p>
        </p:txBody>
      </p:sp>
      <p:sp>
        <p:nvSpPr>
          <p:cNvPr id="84" name="Shape 23"/>
          <p:cNvSpPr/>
          <p:nvPr/>
        </p:nvSpPr>
        <p:spPr>
          <a:xfrm>
            <a:off x="8183880" y="3244645"/>
            <a:ext cx="54864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85" name="Shape 24"/>
          <p:cNvSpPr/>
          <p:nvPr/>
        </p:nvSpPr>
        <p:spPr>
          <a:xfrm>
            <a:off x="8732520" y="4337353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3D8BFF"/>
          </a:solidFill>
          <a:ln/>
        </p:spPr>
      </p:sp>
      <p:sp>
        <p:nvSpPr>
          <p:cNvPr id="86" name="Text 25"/>
          <p:cNvSpPr/>
          <p:nvPr/>
        </p:nvSpPr>
        <p:spPr>
          <a:xfrm>
            <a:off x="8823960" y="4392217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App</a:t>
            </a:r>
            <a:endParaRPr lang="en-US" sz="1200" dirty="0"/>
          </a:p>
        </p:txBody>
      </p:sp>
      <p:sp>
        <p:nvSpPr>
          <p:cNvPr id="87" name="Text 26"/>
          <p:cNvSpPr/>
          <p:nvPr/>
        </p:nvSpPr>
        <p:spPr>
          <a:xfrm>
            <a:off x="8823960" y="4739689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execute-remediation (HTTP, post-approval)</a:t>
            </a:r>
            <a:endParaRPr lang="en-US" sz="900" dirty="0"/>
          </a:p>
        </p:txBody>
      </p:sp>
      <p:sp>
        <p:nvSpPr>
          <p:cNvPr id="88" name="Shape 27"/>
          <p:cNvSpPr/>
          <p:nvPr/>
        </p:nvSpPr>
        <p:spPr>
          <a:xfrm>
            <a:off x="10104120" y="3633265"/>
            <a:ext cx="0" cy="704088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89" name="Shape 28"/>
          <p:cNvSpPr/>
          <p:nvPr/>
        </p:nvSpPr>
        <p:spPr>
          <a:xfrm>
            <a:off x="5717381" y="4337353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3E7F2"/>
          </a:solidFill>
          <a:ln/>
        </p:spPr>
      </p:sp>
      <p:sp>
        <p:nvSpPr>
          <p:cNvPr id="90" name="Text 29"/>
          <p:cNvSpPr/>
          <p:nvPr/>
        </p:nvSpPr>
        <p:spPr>
          <a:xfrm>
            <a:off x="5806440" y="4392217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Remediation Modules</a:t>
            </a:r>
            <a:endParaRPr lang="en-US" sz="1200" dirty="0"/>
          </a:p>
        </p:txBody>
      </p:sp>
      <p:sp>
        <p:nvSpPr>
          <p:cNvPr id="91" name="Text 30"/>
          <p:cNvSpPr/>
          <p:nvPr/>
        </p:nvSpPr>
        <p:spPr>
          <a:xfrm>
            <a:off x="5806440" y="4739689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dispatcher</a:t>
            </a:r>
            <a:endParaRPr lang="en-US" sz="900" dirty="0"/>
          </a:p>
        </p:txBody>
      </p:sp>
      <p:sp>
        <p:nvSpPr>
          <p:cNvPr id="92" name="Shape 31"/>
          <p:cNvSpPr/>
          <p:nvPr/>
        </p:nvSpPr>
        <p:spPr>
          <a:xfrm>
            <a:off x="8732520" y="4725973"/>
            <a:ext cx="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93" name="Shape 32"/>
          <p:cNvSpPr/>
          <p:nvPr/>
        </p:nvSpPr>
        <p:spPr>
          <a:xfrm>
            <a:off x="2880360" y="4337353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44506B"/>
          </a:solidFill>
          <a:ln/>
        </p:spPr>
      </p:sp>
      <p:sp>
        <p:nvSpPr>
          <p:cNvPr id="94" name="Text 33"/>
          <p:cNvSpPr/>
          <p:nvPr/>
        </p:nvSpPr>
        <p:spPr>
          <a:xfrm>
            <a:off x="2971800" y="4392217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Azure Resources</a:t>
            </a:r>
            <a:endParaRPr lang="en-US" sz="1200" dirty="0"/>
          </a:p>
        </p:txBody>
      </p:sp>
      <p:sp>
        <p:nvSpPr>
          <p:cNvPr id="95" name="Text 34"/>
          <p:cNvSpPr/>
          <p:nvPr/>
        </p:nvSpPr>
        <p:spPr>
          <a:xfrm>
            <a:off x="2971800" y="473968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SQL / Key Vault</a:t>
            </a:r>
            <a:endParaRPr lang="en-US" sz="900" dirty="0"/>
          </a:p>
        </p:txBody>
      </p:sp>
      <p:sp>
        <p:nvSpPr>
          <p:cNvPr id="96" name="Shape 35"/>
          <p:cNvSpPr/>
          <p:nvPr/>
        </p:nvSpPr>
        <p:spPr>
          <a:xfrm>
            <a:off x="5715000" y="4725973"/>
            <a:ext cx="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97" name="Shape 36"/>
          <p:cNvSpPr/>
          <p:nvPr/>
        </p:nvSpPr>
        <p:spPr>
          <a:xfrm>
            <a:off x="411480" y="4337353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7204A"/>
          </a:solidFill>
          <a:ln/>
        </p:spPr>
      </p:sp>
      <p:sp>
        <p:nvSpPr>
          <p:cNvPr id="98" name="Text 37"/>
          <p:cNvSpPr/>
          <p:nvPr/>
        </p:nvSpPr>
        <p:spPr>
          <a:xfrm>
            <a:off x="502920" y="4392217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1200" dirty="0"/>
          </a:p>
        </p:txBody>
      </p:sp>
      <p:sp>
        <p:nvSpPr>
          <p:cNvPr id="99" name="Text 38"/>
          <p:cNvSpPr/>
          <p:nvPr/>
        </p:nvSpPr>
        <p:spPr>
          <a:xfrm>
            <a:off x="502920" y="4739689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(KQL)</a:t>
            </a:r>
            <a:endParaRPr lang="en-US" sz="900" dirty="0"/>
          </a:p>
        </p:txBody>
      </p:sp>
      <p:sp>
        <p:nvSpPr>
          <p:cNvPr id="100" name="Shape 39"/>
          <p:cNvSpPr/>
          <p:nvPr/>
        </p:nvSpPr>
        <p:spPr>
          <a:xfrm>
            <a:off x="2880360" y="4725973"/>
            <a:ext cx="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01" name="Text 40"/>
          <p:cNvSpPr/>
          <p:nvPr/>
        </p:nvSpPr>
        <p:spPr>
          <a:xfrm>
            <a:off x="411480" y="5434633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Account (daily): re-checks all 6 controls, flags drift without silently re-fixing</a:t>
            </a:r>
            <a:endParaRPr lang="en-US" sz="1200" dirty="0"/>
          </a:p>
        </p:txBody>
      </p:sp>
      <p:sp>
        <p:nvSpPr>
          <p:cNvPr id="12" name="Shape 23">
            <a:extLst>
              <a:ext uri="{FF2B5EF4-FFF2-40B4-BE49-F238E27FC236}">
                <a16:creationId xmlns:a16="http://schemas.microsoft.com/office/drawing/2014/main" id="{C88C79BA-479D-5128-0FEA-A06741FC3911}"/>
              </a:ext>
            </a:extLst>
          </p:cNvPr>
          <p:cNvSpPr/>
          <p:nvPr/>
        </p:nvSpPr>
        <p:spPr>
          <a:xfrm flipH="1" flipV="1">
            <a:off x="2514600" y="4710094"/>
            <a:ext cx="36576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3" name="Shape 23">
            <a:extLst>
              <a:ext uri="{FF2B5EF4-FFF2-40B4-BE49-F238E27FC236}">
                <a16:creationId xmlns:a16="http://schemas.microsoft.com/office/drawing/2014/main" id="{E223D851-0E98-3FEE-FD8F-085DB73DD663}"/>
              </a:ext>
            </a:extLst>
          </p:cNvPr>
          <p:cNvSpPr/>
          <p:nvPr/>
        </p:nvSpPr>
        <p:spPr>
          <a:xfrm flipH="1" flipV="1">
            <a:off x="5166360" y="4710094"/>
            <a:ext cx="50292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4" name="Shape 23">
            <a:extLst>
              <a:ext uri="{FF2B5EF4-FFF2-40B4-BE49-F238E27FC236}">
                <a16:creationId xmlns:a16="http://schemas.microsoft.com/office/drawing/2014/main" id="{78A9775F-54BC-7DA8-FF06-911379A90257}"/>
              </a:ext>
            </a:extLst>
          </p:cNvPr>
          <p:cNvSpPr/>
          <p:nvPr/>
        </p:nvSpPr>
        <p:spPr>
          <a:xfrm flipH="1" flipV="1">
            <a:off x="8183880" y="4710094"/>
            <a:ext cx="54864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410884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 Console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02920" y="1004724"/>
            <a:ext cx="48204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surface a real security team would actually operate.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9580" y="1456684"/>
            <a:ext cx="3566160" cy="70061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1627" y="1554221"/>
            <a:ext cx="386974" cy="33997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gau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23" y="1607439"/>
            <a:ext cx="277612" cy="2776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5052" y="139763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29030" y="1615059"/>
            <a:ext cx="3159313" cy="542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at a glance - counts, severity mix, tool agreement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98620" y="1456685"/>
            <a:ext cx="3566160" cy="7004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84329" y="1575843"/>
            <a:ext cx="420624" cy="37338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6" name="Image 1" descr="/sessions/nice-ecstatic-meitner/mnt/outputs/assets/slid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008" y="1617985"/>
            <a:ext cx="277612" cy="2776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34137" y="1398773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Approvals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55820" y="1653662"/>
            <a:ext cx="3200400" cy="360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findings; approve or reject each remediation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6639" y="3323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 of every decision and action</a:t>
            </a:r>
            <a:endParaRPr lang="en-US" sz="105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2" name="Slide Zoom 31">
                <a:extLst>
                  <a:ext uri="{FF2B5EF4-FFF2-40B4-BE49-F238E27FC236}">
                    <a16:creationId xmlns:a16="http://schemas.microsoft.com/office/drawing/2014/main" id="{F6EE6745-5FB4-8D58-8235-4B5B05629A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89286790"/>
                  </p:ext>
                </p:extLst>
              </p:nvPr>
            </p:nvGraphicFramePr>
            <p:xfrm>
              <a:off x="64857" y="2297258"/>
              <a:ext cx="4078901" cy="2294382"/>
            </p:xfrm>
            <a:graphic>
              <a:graphicData uri="http://schemas.microsoft.com/office/powerpoint/2016/slidezoom">
                <pslz:sldZm>
                  <pslz:sldZmObj sldId="311" cId="4022175753">
                    <pslz:zmPr id="{699E23AB-501A-4ECF-8CFD-3A9AE524C586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78901" cy="229438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2" name="Slide Zoom 31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F6EE6745-5FB4-8D58-8235-4B5B05629A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57" y="2297258"/>
                <a:ext cx="4078901" cy="229438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4" name="Slide Zoom 33">
                <a:extLst>
                  <a:ext uri="{FF2B5EF4-FFF2-40B4-BE49-F238E27FC236}">
                    <a16:creationId xmlns:a16="http://schemas.microsoft.com/office/drawing/2014/main" id="{88CE6663-F4DA-3CC4-B780-5F92F669F6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6417284"/>
                  </p:ext>
                </p:extLst>
              </p:nvPr>
            </p:nvGraphicFramePr>
            <p:xfrm>
              <a:off x="3999716" y="2279636"/>
              <a:ext cx="3894667" cy="2318843"/>
            </p:xfrm>
            <a:graphic>
              <a:graphicData uri="http://schemas.microsoft.com/office/powerpoint/2016/slidezoom">
                <pslz:sldZm>
                  <pslz:sldZmObj sldId="312" cId="2890712676">
                    <pslz:zmPr id="{566050AC-1D90-4BB1-AD26-C50113A38D24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94667" cy="231884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4" name="Slide Zoom 33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88CE6663-F4DA-3CC4-B780-5F92F669F6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99716" y="2279636"/>
                <a:ext cx="3894667" cy="231884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6" name="Slide Zoom 35">
                <a:extLst>
                  <a:ext uri="{FF2B5EF4-FFF2-40B4-BE49-F238E27FC236}">
                    <a16:creationId xmlns:a16="http://schemas.microsoft.com/office/drawing/2014/main" id="{6F813BE5-FAFE-F1B2-4C99-D6B19D1FD3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3818292"/>
                  </p:ext>
                </p:extLst>
              </p:nvPr>
            </p:nvGraphicFramePr>
            <p:xfrm>
              <a:off x="7894383" y="2278113"/>
              <a:ext cx="4340352" cy="2441448"/>
            </p:xfrm>
            <a:graphic>
              <a:graphicData uri="http://schemas.microsoft.com/office/powerpoint/2016/slidezoom">
                <pslz:sldZm>
                  <pslz:sldZmObj sldId="313" cId="121121740">
                    <pslz:zmPr id="{A34CF4C0-FA96-49FC-BDF0-D3545DAC10C4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40352" cy="24414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6" name="Slide Zoom 35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6F813BE5-FAFE-F1B2-4C99-D6B19D1FD3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94383" y="2278113"/>
                <a:ext cx="4340352" cy="24414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37" name="Shape 11">
            <a:extLst>
              <a:ext uri="{FF2B5EF4-FFF2-40B4-BE49-F238E27FC236}">
                <a16:creationId xmlns:a16="http://schemas.microsoft.com/office/drawing/2014/main" id="{C4325E22-6E73-F842-6857-D8C74D3182A5}"/>
              </a:ext>
            </a:extLst>
          </p:cNvPr>
          <p:cNvSpPr/>
          <p:nvPr/>
        </p:nvSpPr>
        <p:spPr>
          <a:xfrm>
            <a:off x="8028340" y="1456828"/>
            <a:ext cx="3566160" cy="7004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25B7F029-E609-6211-9A9E-325100217655}"/>
              </a:ext>
            </a:extLst>
          </p:cNvPr>
          <p:cNvSpPr/>
          <p:nvPr/>
        </p:nvSpPr>
        <p:spPr>
          <a:xfrm>
            <a:off x="8544520" y="1638248"/>
            <a:ext cx="3200400" cy="360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findings; approve or reject each remediation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103962" y="1580825"/>
            <a:ext cx="440558" cy="384048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2" name="Image 2" descr="/sessions/nice-ecstatic-meitner/mnt/outputs/assets/clipboard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5435" y="1640160"/>
            <a:ext cx="277612" cy="2776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71623" y="13836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2" name="Slide Zoom 41">
                <a:extLst>
                  <a:ext uri="{FF2B5EF4-FFF2-40B4-BE49-F238E27FC236}">
                    <a16:creationId xmlns:a16="http://schemas.microsoft.com/office/drawing/2014/main" id="{D73F052A-DB61-4863-5EE5-D142CA4F3F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664621"/>
                  </p:ext>
                </p:extLst>
              </p:nvPr>
            </p:nvGraphicFramePr>
            <p:xfrm>
              <a:off x="2699492" y="4741164"/>
              <a:ext cx="3048000" cy="1714500"/>
            </p:xfrm>
            <a:graphic>
              <a:graphicData uri="http://schemas.microsoft.com/office/powerpoint/2016/slidezoom">
                <pslz:sldZm>
                  <pslz:sldZmObj sldId="314" cId="2989166439">
                    <pslz:zmPr id="{62D4DF78-E5CA-4A7A-B5E4-A47058D13A32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2" name="Slide Zoom 41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D73F052A-DB61-4863-5EE5-D142CA4F3F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99492" y="4741164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4" name="Slide Zoom 43">
                <a:extLst>
                  <a:ext uri="{FF2B5EF4-FFF2-40B4-BE49-F238E27FC236}">
                    <a16:creationId xmlns:a16="http://schemas.microsoft.com/office/drawing/2014/main" id="{A33A83C4-5F7C-6C25-8B1E-1253FE8C91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71525123"/>
                  </p:ext>
                </p:extLst>
              </p:nvPr>
            </p:nvGraphicFramePr>
            <p:xfrm>
              <a:off x="6096000" y="4731631"/>
              <a:ext cx="3048000" cy="1714500"/>
            </p:xfrm>
            <a:graphic>
              <a:graphicData uri="http://schemas.microsoft.com/office/powerpoint/2016/slidezoom">
                <pslz:sldZm>
                  <pslz:sldZmObj sldId="315" cId="2076463285">
                    <pslz:zmPr id="{7AAE2698-73F7-41F2-9C72-FF057C196688}" returnToParent="0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4" name="Slide Zoom 43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A33A83C4-5F7C-6C25-8B1E-1253FE8C91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096000" y="473163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Multi-Framework Compliance Crosswalk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 traceability from CloudGuardian controls to ISO 27001, CIS Benchmarks, and India’s DPDP Act 2023.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55500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Team-mode scope: every control maps to ISO 27001 Annex A, the relevant CIS Benchmark, and DPDP Act 2023 / Rules 2025.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65960"/>
          <a:ext cx="11183112" cy="3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3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CloudGuardian Control</a:t>
                      </a:r>
                    </a:p>
                  </a:txBody>
                  <a:tcPr marL="13716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ISO 27001 Annex A</a:t>
                      </a:r>
                    </a:p>
                  </a:txBody>
                  <a:tcPr marL="13716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CIS Benchmark</a:t>
                      </a:r>
                    </a:p>
                  </a:txBody>
                  <a:tcPr marL="13716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DPDP Act / Rules 2025</a:t>
                      </a:r>
                    </a:p>
                  </a:txBody>
                  <a:tcPr marL="13716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Control Objective</a:t>
                      </a:r>
                    </a:p>
                  </a:txBody>
                  <a:tcPr marL="137160"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Storage · public access</a:t>
                      </a:r>
                    </a:p>
                  </a:txBody>
                  <a:tcPr marL="13716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A.5.10</a:t>
                      </a:r>
                    </a:p>
                  </a:txBody>
                  <a:tcPr marL="137160" anchor="ctr"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CIS 3.1 / 3.3</a:t>
                      </a:r>
                    </a:p>
                  </a:txBody>
                  <a:tcPr marL="137160" anchor="ctr">
                    <a:solidFill>
                      <a:srgbClr val="11A8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Sec 8(5) Safeguards</a:t>
                      </a:r>
                    </a:p>
                  </a:txBody>
                  <a:tcPr marL="137160" anchor="ctr">
                    <a:solidFill>
                      <a:srgbClr val="C98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30"/>
                          </a:solidFill>
                          <a:latin typeface="Calibri"/>
                        </a:rPr>
                        <a:t>Acceptable use / protection of information</a:t>
                      </a:r>
                    </a:p>
                  </a:txBody>
                  <a:tcPr marL="137160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150" b="1" dirty="0">
                          <a:solidFill>
                            <a:srgbClr val="0B1F3A"/>
                          </a:solidFill>
                          <a:latin typeface="Calibri"/>
                        </a:rPr>
                        <a:t>IAM · over-privilege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A.5.15 / A.5.18</a:t>
                      </a:r>
                    </a:p>
                  </a:txBody>
                  <a:tcPr marL="137160" anchor="ctr"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CIS 1.1 / 5.4</a:t>
                      </a:r>
                    </a:p>
                  </a:txBody>
                  <a:tcPr marL="137160" anchor="ctr">
                    <a:solidFill>
                      <a:srgbClr val="11A8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Sec 8(5) Access Control</a:t>
                      </a:r>
                    </a:p>
                  </a:txBody>
                  <a:tcPr marL="137160" anchor="ctr">
                    <a:solidFill>
                      <a:srgbClr val="C98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30"/>
                          </a:solidFill>
                          <a:latin typeface="Calibri"/>
                        </a:rPr>
                        <a:t>Access control · access rights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Encryption at rest</a:t>
                      </a:r>
                    </a:p>
                  </a:txBody>
                  <a:tcPr marL="13716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A.8.24</a:t>
                      </a:r>
                    </a:p>
                  </a:txBody>
                  <a:tcPr marL="137160" anchor="ctr"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CIS 4.1 / 3.11</a:t>
                      </a:r>
                    </a:p>
                  </a:txBody>
                  <a:tcPr marL="137160" anchor="ctr">
                    <a:solidFill>
                      <a:srgbClr val="11A8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Rules 2025 Sch. (Encryption)</a:t>
                      </a:r>
                    </a:p>
                  </a:txBody>
                  <a:tcPr marL="137160" anchor="ctr">
                    <a:solidFill>
                      <a:srgbClr val="C98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30"/>
                          </a:solidFill>
                          <a:latin typeface="Calibri"/>
                        </a:rPr>
                        <a:t>Use of cryptography</a:t>
                      </a:r>
                    </a:p>
                  </a:txBody>
                  <a:tcPr marL="137160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Networking · exposure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A.8.20 / A.8.22</a:t>
                      </a:r>
                    </a:p>
                  </a:txBody>
                  <a:tcPr marL="137160" anchor="ctr"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CIS 6.1 / 12.1</a:t>
                      </a:r>
                    </a:p>
                  </a:txBody>
                  <a:tcPr marL="137160" anchor="ctr">
                    <a:solidFill>
                      <a:srgbClr val="11A8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Sec 8(5) Network Security</a:t>
                      </a:r>
                    </a:p>
                  </a:txBody>
                  <a:tcPr marL="137160" anchor="ctr">
                    <a:solidFill>
                      <a:srgbClr val="C98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30"/>
                          </a:solidFill>
                          <a:latin typeface="Calibri"/>
                        </a:rPr>
                        <a:t>Network security · segregation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Logging &amp; diagnostics</a:t>
                      </a:r>
                    </a:p>
                  </a:txBody>
                  <a:tcPr marL="13716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A.8.15</a:t>
                      </a:r>
                    </a:p>
                  </a:txBody>
                  <a:tcPr marL="137160" anchor="ctr"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CIS 5.1 / 8.2</a:t>
                      </a:r>
                    </a:p>
                  </a:txBody>
                  <a:tcPr marL="137160" anchor="ctr">
                    <a:solidFill>
                      <a:srgbClr val="11A8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Rules 2025 (1-Yr Logs)</a:t>
                      </a:r>
                    </a:p>
                  </a:txBody>
                  <a:tcPr marL="137160" anchor="ctr">
                    <a:solidFill>
                      <a:srgbClr val="C98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30"/>
                          </a:solidFill>
                          <a:latin typeface="Calibri"/>
                        </a:rPr>
                        <a:t>Logging</a:t>
                      </a:r>
                    </a:p>
                  </a:txBody>
                  <a:tcPr marL="137160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Remediation governance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A.5.1 / A.8.16</a:t>
                      </a:r>
                    </a:p>
                  </a:txBody>
                  <a:tcPr marL="137160" anchor="ctr"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CIS 18.1 / 18.3</a:t>
                      </a:r>
                    </a:p>
                  </a:txBody>
                  <a:tcPr marL="137160" anchor="ctr">
                    <a:solidFill>
                      <a:srgbClr val="11A8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Sec 8 Accountability</a:t>
                      </a:r>
                    </a:p>
                  </a:txBody>
                  <a:tcPr marL="137160" anchor="ctr">
                    <a:solidFill>
                      <a:srgbClr val="C98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B2430"/>
                          </a:solidFill>
                          <a:latin typeface="Calibri"/>
                        </a:rPr>
                        <a:t>Policies · monitoring activities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After: Security Posture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Concrete, numeric proof the pipeline changes posture - not just reports on it.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502920" y="1650000"/>
          <a:ext cx="6583680" cy="1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650000"/>
            <a:ext cx="2048256" cy="900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0" y="1770000"/>
            <a:ext cx="2048256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68→12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92325" y="2136142"/>
            <a:ext cx="1865376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findings after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remediation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637776" y="1650000"/>
            <a:ext cx="2048256" cy="900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37776" y="1770000"/>
            <a:ext cx="2048256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729216" y="2164682"/>
            <a:ext cx="1865376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open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315200" y="2630000"/>
            <a:ext cx="4370832" cy="90000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498080" y="2720000"/>
            <a:ext cx="36576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498080" y="2970000"/>
            <a:ext cx="402336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FE0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12 are risk-classified and held at the human-approval gate - visible, ranked and governed, not silently open.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2920" y="3590000"/>
            <a:ext cx="109728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remediation trajectory from the governed pipeline; baseline = 68 confirmed FAILs.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502920" y="3890000"/>
            <a:ext cx="11155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 Maturity Progression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512064" y="4160000"/>
            <a:ext cx="111556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audit failure toward managed, continuous posture - with a path onward.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0" name="Text 22"/>
          <p:cNvSpPr/>
          <p:nvPr/>
        </p:nvSpPr>
        <p:spPr>
          <a:xfrm>
            <a:off x="3115818" y="4400000"/>
            <a:ext cx="2704338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WAS HERE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4467987" y="4600000"/>
            <a:ext cx="220000" cy="2200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2" name="Text 24"/>
          <p:cNvSpPr/>
          <p:nvPr/>
        </p:nvSpPr>
        <p:spPr>
          <a:xfrm>
            <a:off x="5820156" y="4400000"/>
            <a:ext cx="2704338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Shape 23"/>
          <p:cNvSpPr/>
          <p:nvPr/>
        </p:nvSpPr>
        <p:spPr>
          <a:xfrm>
            <a:off x="7172325" y="4600000"/>
            <a:ext cx="220000" cy="220000"/>
          </a:xfrm>
          <a:prstGeom prst="ellipse">
            <a:avLst/>
          </a:prstGeom>
          <a:solidFill>
            <a:srgbClr val="11A88E"/>
          </a:solidFill>
          <a:ln/>
        </p:spPr>
      </p:sp>
      <p:sp>
        <p:nvSpPr>
          <p:cNvPr id="224" name="Shape 6"/>
          <p:cNvSpPr/>
          <p:nvPr/>
        </p:nvSpPr>
        <p:spPr>
          <a:xfrm>
            <a:off x="685800" y="4850000"/>
            <a:ext cx="2521458" cy="480000"/>
          </a:xfrm>
          <a:prstGeom prst="roundRect">
            <a:avLst>
              <a:gd name="adj" fmla="val 8571"/>
            </a:avLst>
          </a:prstGeom>
          <a:solidFill>
            <a:srgbClr val="D9DEE6"/>
          </a:solidFill>
          <a:ln/>
        </p:spPr>
      </p:sp>
      <p:sp>
        <p:nvSpPr>
          <p:cNvPr id="225" name="Text 7"/>
          <p:cNvSpPr/>
          <p:nvPr/>
        </p:nvSpPr>
        <p:spPr>
          <a:xfrm>
            <a:off x="685800" y="4850000"/>
            <a:ext cx="2521458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Text 8"/>
          <p:cNvSpPr/>
          <p:nvPr/>
        </p:nvSpPr>
        <p:spPr>
          <a:xfrm>
            <a:off x="640080" y="5350000"/>
            <a:ext cx="2612898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Manual, occasional checks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3207258" y="5090000"/>
            <a:ext cx="182880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28" name="Shape 10"/>
          <p:cNvSpPr/>
          <p:nvPr/>
        </p:nvSpPr>
        <p:spPr>
          <a:xfrm>
            <a:off x="3390138" y="4850000"/>
            <a:ext cx="2521458" cy="480000"/>
          </a:xfrm>
          <a:prstGeom prst="roundRect">
            <a:avLst>
              <a:gd name="adj" fmla="val 8571"/>
            </a:avLst>
          </a:prstGeom>
          <a:solidFill>
            <a:srgbClr val="C9D3DF"/>
          </a:solidFill>
          <a:ln/>
        </p:spPr>
      </p:sp>
      <p:sp>
        <p:nvSpPr>
          <p:cNvPr id="229" name="Text 11"/>
          <p:cNvSpPr/>
          <p:nvPr/>
        </p:nvSpPr>
        <p:spPr>
          <a:xfrm>
            <a:off x="3390138" y="4850000"/>
            <a:ext cx="2521458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Text 12"/>
          <p:cNvSpPr/>
          <p:nvPr/>
        </p:nvSpPr>
        <p:spPr>
          <a:xfrm>
            <a:off x="3344418" y="5350000"/>
            <a:ext cx="2612898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 on audit finding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Shape 13"/>
          <p:cNvSpPr/>
          <p:nvPr/>
        </p:nvSpPr>
        <p:spPr>
          <a:xfrm>
            <a:off x="5911596" y="5090000"/>
            <a:ext cx="182880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32" name="Shape 14"/>
          <p:cNvSpPr/>
          <p:nvPr/>
        </p:nvSpPr>
        <p:spPr>
          <a:xfrm>
            <a:off x="6094476" y="4850000"/>
            <a:ext cx="2521458" cy="480000"/>
          </a:xfrm>
          <a:prstGeom prst="roundRect">
            <a:avLst>
              <a:gd name="adj" fmla="val 8571"/>
            </a:avLst>
          </a:prstGeom>
          <a:solidFill>
            <a:srgbClr val="11A88E"/>
          </a:solidFill>
          <a:ln/>
        </p:spPr>
      </p:sp>
      <p:sp>
        <p:nvSpPr>
          <p:cNvPr id="233" name="Text 15"/>
          <p:cNvSpPr/>
          <p:nvPr/>
        </p:nvSpPr>
        <p:spPr>
          <a:xfrm>
            <a:off x="6094476" y="4850000"/>
            <a:ext cx="2521458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Text 16"/>
          <p:cNvSpPr/>
          <p:nvPr/>
        </p:nvSpPr>
        <p:spPr>
          <a:xfrm>
            <a:off x="6048756" y="5350000"/>
            <a:ext cx="2612898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prioritized, governed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Shape 17"/>
          <p:cNvSpPr/>
          <p:nvPr/>
        </p:nvSpPr>
        <p:spPr>
          <a:xfrm>
            <a:off x="8615934" y="5090000"/>
            <a:ext cx="182880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36" name="Shape 18"/>
          <p:cNvSpPr/>
          <p:nvPr/>
        </p:nvSpPr>
        <p:spPr>
          <a:xfrm>
            <a:off x="8798814" y="4850000"/>
            <a:ext cx="2521458" cy="480000"/>
          </a:xfrm>
          <a:prstGeom prst="roundRect">
            <a:avLst>
              <a:gd name="adj" fmla="val 8571"/>
            </a:avLst>
          </a:prstGeom>
          <a:solidFill>
            <a:srgbClr val="DEECF9"/>
          </a:solidFill>
          <a:ln/>
        </p:spPr>
      </p:sp>
      <p:sp>
        <p:nvSpPr>
          <p:cNvPr id="237" name="Text 19"/>
          <p:cNvSpPr/>
          <p:nvPr/>
        </p:nvSpPr>
        <p:spPr>
          <a:xfrm>
            <a:off x="8798814" y="4850000"/>
            <a:ext cx="2521458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Text 20"/>
          <p:cNvSpPr/>
          <p:nvPr/>
        </p:nvSpPr>
        <p:spPr>
          <a:xfrm>
            <a:off x="8753094" y="5350000"/>
            <a:ext cx="2612898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A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AI-driven, self-healing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Shape 25"/>
          <p:cNvSpPr/>
          <p:nvPr/>
        </p:nvSpPr>
        <p:spPr>
          <a:xfrm>
            <a:off x="502920" y="568000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DEECF9"/>
          </a:solidFill>
          <a:ln/>
        </p:spPr>
      </p:sp>
      <p:sp>
        <p:nvSpPr>
          <p:cNvPr id="240" name="Shape 26"/>
          <p:cNvSpPr/>
          <p:nvPr/>
        </p:nvSpPr>
        <p:spPr>
          <a:xfrm>
            <a:off x="649224" y="5826304"/>
            <a:ext cx="365760" cy="36576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41" name="Picture 2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" y="5925059"/>
            <a:ext cx="168250" cy="168250"/>
          </a:xfrm>
          <a:prstGeom prst="rect">
            <a:avLst/>
          </a:prstGeom>
        </p:spPr>
      </p:pic>
      <p:sp>
        <p:nvSpPr>
          <p:cNvPr id="19" name="Text 27"/>
          <p:cNvSpPr/>
          <p:nvPr/>
        </p:nvSpPr>
        <p:spPr>
          <a:xfrm>
            <a:off x="1161288" y="5698288"/>
            <a:ext cx="103967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0F6C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moves posture from reactive to managed - with a clear, named route to optimized.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A6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A6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 · Executive Close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B88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RECOMMENDATION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Adopt </a:t>
            </a:r>
            <a:r>
              <a:rPr kumimoji="0" 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multi-tool, AI-assisted, human-governed CSPM</a:t>
            </a:r>
            <a:r>
              <a:rPr kumimoji="0" 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as the default cloud posture-management model.</a:t>
            </a:r>
            <a:endParaRPr kumimoji="0" lang="en-US" sz="3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27466B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3730752"/>
            <a:ext cx="603504" cy="603504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9" name="Image 0" descr="/sessions/nice-ecstatic-meitner/mnt/outputs/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70" y="3893698"/>
            <a:ext cx="277612" cy="2776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3767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Proven achievable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96112" y="4434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FE0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at individual, free-tier scale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434840" y="3520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27466B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72584" y="3730752"/>
            <a:ext cx="603504" cy="603504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4" name="Image 1" descr="/sessions/nice-ecstatic-meitner/mnt/outputs/assets/shield-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530" y="3893698"/>
            <a:ext cx="277612" cy="2776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3767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Standards-aligned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690872" y="4434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FE0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ISO 27001 · NIST CSF · CIS · ATT&amp;CK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229600" y="3520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27466B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67344" y="3730752"/>
            <a:ext cx="603504" cy="603504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9" name="Image 2" descr="/sessions/nice-ecstatic-meitner/mnt/outputs/asset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0290" y="3893698"/>
            <a:ext cx="277612" cy="2776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89720" y="3767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485632" y="4434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FE0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path to full CNAPP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165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A6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A6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 · Executive Close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/sessions/nice-ecstatic-meitner/mnt/outputs/assets/shield-check_white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595360" y="1188720"/>
            <a:ext cx="32918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8368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76656" y="3794760"/>
            <a:ext cx="2926080" cy="0"/>
          </a:xfrm>
          <a:prstGeom prst="line">
            <a:avLst/>
          </a:prstGeom>
          <a:noFill/>
          <a:ln w="25400">
            <a:solidFill>
              <a:srgbClr val="2B8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402336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FE0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AI-Assisted CSPM on Microsoft Azure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EC4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Kedar Pavaskar | Vinay Kumar | Megha Sharma  ·  IIT Roorkee ×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EC4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Futurense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EC4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- Cloud Security Essentials
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EA6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Appendix ready: architecture, full toggle catalogue, schema, sample finding walkthrough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827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TECHNOLOGY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Discipline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disposable, reproducible environment - an operational property, not a demo hack.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63500" dist="25400" dir="5400000" algn="bl" rotWithShape="0">
              <a:srgbClr val="AAB4C2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1984248"/>
            <a:ext cx="420624" cy="42062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76" y="2097816"/>
            <a:ext cx="193487" cy="1934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404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versions.tf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84248" y="187452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63500" dist="25400" dir="5400000" algn="bl" rotWithShape="0">
              <a:srgbClr val="AAB4C2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9736" y="1984248"/>
            <a:ext cx="420624" cy="42062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4" name="Image 1" descr="/sessions/nice-ecstatic-meitner/mnt/outputs/asset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304" y="2097816"/>
            <a:ext cx="193487" cy="1934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84248" y="2404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providers.tf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65576" y="187452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63500" dist="25400" dir="5400000" algn="bl" rotWithShape="0">
              <a:srgbClr val="AAB4C2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941064" y="1984248"/>
            <a:ext cx="420624" cy="42062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8" name="Image 2" descr="/sessions/nice-ecstatic-meitner/mnt/outputs/assets/slid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632" y="2097816"/>
            <a:ext cx="193487" cy="1934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65576" y="2404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variables.tf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946904" y="187452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63500" dist="25400" dir="5400000" algn="bl" rotWithShape="0">
              <a:srgbClr val="AAB4C2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22392" y="1984248"/>
            <a:ext cx="420624" cy="42062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2" name="Image 3" descr="/sessions/nice-ecstatic-meitner/mnt/outputs/assets/ge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5960" y="2097816"/>
            <a:ext cx="193487" cy="1934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46904" y="2404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locals.tf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28232" y="187452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63500" dist="25400" dir="5400000" algn="bl" rotWithShape="0">
              <a:srgbClr val="AAB4C2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03720" y="1984248"/>
            <a:ext cx="420624" cy="42062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6" name="Image 4" descr="/sessions/nice-ecstatic-meitner/mnt/outputs/assets/networ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7288" y="2097816"/>
            <a:ext cx="193487" cy="1934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28232" y="2404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network.tf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02920" y="2807208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63500" dist="25400" dir="5400000" algn="bl" rotWithShape="0">
              <a:srgbClr val="AAB4C2">
                <a:alpha val="2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78408" y="2916936"/>
            <a:ext cx="420624" cy="42062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0" name="Image 5" descr="/sessions/nice-ecstatic-meitner/mnt/outputs/assets/serv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976" y="3030504"/>
            <a:ext cx="193487" cy="19348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2920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compute.tf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1984248" y="2807208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63500" dist="25400" dir="5400000" algn="bl" rotWithShape="0">
              <a:srgbClr val="AAB4C2">
                <a:alpha val="2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2459736" y="2916936"/>
            <a:ext cx="420624" cy="42062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4" name="Image 6" descr="/sessions/nice-ecstatic-meitner/mnt/outputs/assets/datab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3304" y="3030504"/>
            <a:ext cx="193487" cy="19348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984248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database.tf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3465576" y="2807208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63500" dist="25400" dir="5400000" algn="bl" rotWithShape="0">
              <a:srgbClr val="AAB4C2">
                <a:alpha val="2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3941064" y="2916936"/>
            <a:ext cx="420624" cy="42062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8" name="Image 7" descr="/sessions/nice-ecstatic-meitner/mnt/outputs/asset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632" y="3030504"/>
            <a:ext cx="193487" cy="193487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465576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storage.tf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4946904" y="2807208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63500" dist="25400" dir="5400000" algn="bl" rotWithShape="0">
              <a:srgbClr val="AAB4C2">
                <a:alpha val="22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5422392" y="2916936"/>
            <a:ext cx="420624" cy="42062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42" name="Image 8" descr="/sessions/nice-ecstatic-meitner/mnt/outputs/asset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960" y="3030504"/>
            <a:ext cx="193487" cy="193487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946904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outputs.tf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818120" y="1874520"/>
            <a:ext cx="3867912" cy="1828800"/>
          </a:xfrm>
          <a:prstGeom prst="roundRect">
            <a:avLst>
              <a:gd name="adj" fmla="val 35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45" name="Text 34"/>
          <p:cNvSpPr/>
          <p:nvPr/>
        </p:nvSpPr>
        <p:spPr>
          <a:xfrm>
            <a:off x="80010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800100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A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250" dirty="0"/>
          </a:p>
        </p:txBody>
      </p:sp>
      <p:sp>
        <p:nvSpPr>
          <p:cNvPr id="47" name="Text 36"/>
          <p:cNvSpPr/>
          <p:nvPr/>
        </p:nvSpPr>
        <p:spPr>
          <a:xfrm>
            <a:off x="8001000" y="27157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A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8001000" y="30998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A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8001000" y="3520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the identical estate in minutes; tears down to zero cost.</a:t>
            </a:r>
            <a:endParaRPr lang="en-US" sz="950" dirty="0"/>
          </a:p>
        </p:txBody>
      </p:sp>
      <p:sp>
        <p:nvSpPr>
          <p:cNvPr id="50" name="Shape 39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51" name="Image 9" descr="/sessions/nice-ecstatic-meitner/mnt/outputs/assets/refresh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" y="4101084"/>
            <a:ext cx="210312" cy="210312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1316736" y="3959352"/>
            <a:ext cx="627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350" dirty="0"/>
          </a:p>
        </p:txBody>
      </p:sp>
      <p:sp>
        <p:nvSpPr>
          <p:cNvPr id="53" name="Text 41"/>
          <p:cNvSpPr/>
          <p:nvPr/>
        </p:nvSpPr>
        <p:spPr>
          <a:xfrm>
            <a:off x="1316736" y="4224528"/>
            <a:ext cx="627278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and rebuild identically on demand</a:t>
            </a:r>
            <a:endParaRPr lang="en-US" sz="1150" dirty="0"/>
          </a:p>
        </p:txBody>
      </p:sp>
      <p:sp>
        <p:nvSpPr>
          <p:cNvPr id="54" name="Shape 42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55" name="Image 10" descr="/sessions/nice-ecstatic-meitner/mnt/outputs/assets/shield-check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524" y="4558284"/>
            <a:ext cx="210312" cy="210312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1316736" y="4416552"/>
            <a:ext cx="627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350" dirty="0"/>
          </a:p>
        </p:txBody>
      </p:sp>
      <p:sp>
        <p:nvSpPr>
          <p:cNvPr id="57" name="Text 44"/>
          <p:cNvSpPr/>
          <p:nvPr/>
        </p:nvSpPr>
        <p:spPr>
          <a:xfrm>
            <a:off x="1316736" y="4681728"/>
            <a:ext cx="627278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defined in version-controllable code</a:t>
            </a:r>
            <a:endParaRPr lang="en-US" sz="1150" dirty="0"/>
          </a:p>
        </p:txBody>
      </p:sp>
      <p:sp>
        <p:nvSpPr>
          <p:cNvPr id="58" name="Shape 45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59" name="Image 11" descr="/sessions/nice-ecstatic-meitner/mnt/outputs/assets/dollar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24" y="5015484"/>
            <a:ext cx="210312" cy="210312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1316736" y="4873752"/>
            <a:ext cx="627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Cost-safe</a:t>
            </a:r>
            <a:endParaRPr lang="en-US" sz="1350" dirty="0"/>
          </a:p>
        </p:txBody>
      </p:sp>
      <p:sp>
        <p:nvSpPr>
          <p:cNvPr id="61" name="Text 47"/>
          <p:cNvSpPr/>
          <p:nvPr/>
        </p:nvSpPr>
        <p:spPr>
          <a:xfrm>
            <a:off x="1316736" y="5166360"/>
            <a:ext cx="627278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infrastructure is torn down, not left running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Annex A Compliance Crosswalk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traces to the exact standard the business problem cited.</a:t>
            </a:r>
            <a:endParaRPr lang="en-US" sz="13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502920" y="1965960"/>
          <a:ext cx="11183112" cy="3328416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CloudGuardian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Annex A 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Storage · public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 use / protection of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IAM · over-privilege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A.5.15 / A.5.18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 · access rights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Encryption at 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cryptography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Networking · exposure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A.8.20 / A.8.22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security · segregation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Logging &amp; diagnostics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Remediation governance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 / A.8.16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· monitoring activities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3492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Individual-track scope = ISO 27001 Annex A. DPDP 2023 mapping available as a stretch extension (appendix).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60581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 Alignment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cross-validated against an independently maintained industry benchmark.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9" name="Image 0" descr="/sessions/nice-ecstatic-meitner/mnt/outputs/asset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51" y="211903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947672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Steampipe Azure CIS compliance mod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26464" y="2212848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validated as SQL against published CIS controls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3" name="Image 1" descr="/sessions/nice-ecstatic-meitner/mnt/outputs/asset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51" y="317059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26464" y="2999232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corroboration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426464" y="3264408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benchmark-native second opinion, separate from Prowler logic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7" name="Image 2" descr="/sessions/nice-ecstatic-meitner/mnt/outputs/asset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51" y="422215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26464" y="4050792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Benchmark-native evidence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26464" y="4315968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IDs map directly to auditor-recognized references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55080" y="1965960"/>
            <a:ext cx="5330952" cy="3017520"/>
          </a:xfrm>
          <a:prstGeom prst="roundRect">
            <a:avLst>
              <a:gd name="adj" fmla="val 212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583680" y="21214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CIS CONTROLS VALIDATED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583680" y="248716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23" name="Text 18"/>
          <p:cNvSpPr/>
          <p:nvPr/>
        </p:nvSpPr>
        <p:spPr>
          <a:xfrm>
            <a:off x="6583680" y="24780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3.1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58952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storage secure transfer required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583680" y="294436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26" name="Text 21"/>
          <p:cNvSpPr/>
          <p:nvPr/>
        </p:nvSpPr>
        <p:spPr>
          <a:xfrm>
            <a:off x="6583680" y="29352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3.7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758952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public access disallowed on containers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583680" y="340156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29" name="Text 24"/>
          <p:cNvSpPr/>
          <p:nvPr/>
        </p:nvSpPr>
        <p:spPr>
          <a:xfrm>
            <a:off x="6583680" y="33924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4.x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758952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SQL firewall not 0.0.0.0/0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583680" y="385876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2" name="Text 27"/>
          <p:cNvSpPr/>
          <p:nvPr/>
        </p:nvSpPr>
        <p:spPr>
          <a:xfrm>
            <a:off x="6583680" y="38496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6.x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758952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NSG restricts inbound SSH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583680" y="431596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5" name="Text 30"/>
          <p:cNvSpPr/>
          <p:nvPr/>
        </p:nvSpPr>
        <p:spPr>
          <a:xfrm>
            <a:off x="6583680" y="43068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5.x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7589520" y="4297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diagnostic logging enabled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84865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Technique Mapping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think like an attacker, not just a checklist auditor.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2093976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9" y="2247047"/>
            <a:ext cx="260787" cy="26078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417320" y="20939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1417320" y="20848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T1530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41732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Cloud Storage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088" y="2926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 Public storage container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51960" y="187452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53128" y="2093976"/>
            <a:ext cx="566928" cy="566928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7" name="Image 1" descr="/sessions/nice-ecstatic-meitner/mnt/outputs/asset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199" y="2247047"/>
            <a:ext cx="260787" cy="26078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166360" y="20939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C98A21"/>
          </a:solidFill>
          <a:ln/>
        </p:spPr>
      </p:sp>
      <p:sp>
        <p:nvSpPr>
          <p:cNvPr id="19" name="Text 15"/>
          <p:cNvSpPr/>
          <p:nvPr/>
        </p:nvSpPr>
        <p:spPr>
          <a:xfrm>
            <a:off x="5166360" y="20848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T1133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16636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Remote Services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453128" y="2926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 SSH open to internet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01000" y="187452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02168" y="2093976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4" name="Image 2" descr="/sessions/nice-ecstatic-meitner/mnt/outputs/asset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239" y="2247047"/>
            <a:ext cx="260787" cy="260787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915400" y="20939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6" name="Text 21"/>
          <p:cNvSpPr/>
          <p:nvPr/>
        </p:nvSpPr>
        <p:spPr>
          <a:xfrm>
            <a:off x="8915400" y="20848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T1190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91540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Public-Facing App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202168" y="2926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 SQL firewall allow-all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02920" y="352044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04088" y="3739896"/>
            <a:ext cx="566928" cy="566928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1" name="Image 3" descr="/sessions/nice-ecstatic-meitner/mnt/outputs/assets/k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59" y="3892967"/>
            <a:ext cx="260787" cy="260787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417320" y="373989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C98A21"/>
          </a:solidFill>
          <a:ln/>
        </p:spPr>
      </p:sp>
      <p:sp>
        <p:nvSpPr>
          <p:cNvPr id="33" name="Text 27"/>
          <p:cNvSpPr/>
          <p:nvPr/>
        </p:nvSpPr>
        <p:spPr>
          <a:xfrm>
            <a:off x="1417320" y="37307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T1110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141732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04088" y="45720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 VM password auth enabled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251960" y="352044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453128" y="3739896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8" name="Image 4" descr="/sessions/nice-ecstatic-meitner/mnt/outputs/assets/us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199" y="3892967"/>
            <a:ext cx="260787" cy="260787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5166360" y="373989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40" name="Text 33"/>
          <p:cNvSpPr/>
          <p:nvPr/>
        </p:nvSpPr>
        <p:spPr>
          <a:xfrm>
            <a:off x="5166360" y="37307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T1078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516636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Accounts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453128" y="45720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 Over-privileged IAM roles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8001000" y="352044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8202168" y="3739896"/>
            <a:ext cx="566928" cy="566928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45" name="Image 5" descr="/sessions/nice-ecstatic-meitner/mnt/outputs/asset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5239" y="3892967"/>
            <a:ext cx="260787" cy="260787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8915400" y="373989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C98A21"/>
          </a:solidFill>
          <a:ln/>
        </p:spPr>
      </p:sp>
      <p:sp>
        <p:nvSpPr>
          <p:cNvPr id="47" name="Text 39"/>
          <p:cNvSpPr/>
          <p:nvPr/>
        </p:nvSpPr>
        <p:spPr>
          <a:xfrm>
            <a:off x="8915400" y="37307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T1562</a:t>
            </a:r>
            <a:endParaRPr lang="en-US" sz="950" dirty="0"/>
          </a:p>
        </p:txBody>
      </p:sp>
      <p:sp>
        <p:nvSpPr>
          <p:cNvPr id="48" name="Text 40"/>
          <p:cNvSpPr/>
          <p:nvPr/>
        </p:nvSpPr>
        <p:spPr>
          <a:xfrm>
            <a:off x="891540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 Defenses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8202168" y="45720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 Diagnostics / logging disabled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45328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Heat Map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followed the model - highest-risk domains fell the most.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313432"/>
            <a:ext cx="658368" cy="402336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2313432"/>
            <a:ext cx="658368" cy="402336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22776" y="2313432"/>
            <a:ext cx="658368" cy="402336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2313432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52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2880360"/>
            <a:ext cx="658368" cy="402336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2880360"/>
            <a:ext cx="658368" cy="402336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22776" y="2880360"/>
            <a:ext cx="658368" cy="402336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2584" y="2880360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198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3447288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3C79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3447288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3C79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22776" y="3447288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2584" y="3447288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867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3160" y="4014216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3C79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4014216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3C79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22776" y="4014216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2584" y="4014216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537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23160" y="4581144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CE9C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2968" y="4581144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22776" y="4581144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72584" y="4581144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874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83880" y="2313432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CE9C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33688" y="2313432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83496" y="2313432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33304" y="2313432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852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83880" y="2880360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33688" y="2880360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83496" y="2880360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33304" y="2880360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4198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83880" y="3447288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CE9C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33688" y="3447288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83496" y="3447288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33304" y="3447288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39867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183880" y="4014216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CE9C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33688" y="4014216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83496" y="4014216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433304" y="4014216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45537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183880" y="4581144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33688" y="4581144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83496" y="4581144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33304" y="4581144"/>
            <a:ext cx="658368" cy="402336"/>
          </a:xfrm>
          <a:prstGeom prst="roundRect">
            <a:avLst>
              <a:gd name="adj" fmla="val 9091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intensity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377440" y="5394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1F4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51760" y="5376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749040" y="5394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CE9C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23360" y="5376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120640" y="5394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3C79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94960" y="5376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492240" y="5394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66560" y="5376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20D709-9494-37EA-1F39-09CE7DD1D7EF}"/>
              </a:ext>
            </a:extLst>
          </p:cNvPr>
          <p:cNvSpPr txBox="1"/>
          <p:nvPr/>
        </p:nvSpPr>
        <p:spPr>
          <a:xfrm>
            <a:off x="6527800" y="279400"/>
            <a:ext cx="34480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Change After </a:t>
            </a:r>
            <a:r>
              <a:rPr lang="en-IN" dirty="0" err="1">
                <a:solidFill>
                  <a:srgbClr val="FF0000"/>
                </a:solidFill>
              </a:rPr>
              <a:t>Color</a:t>
            </a:r>
            <a:r>
              <a:rPr lang="en-IN" dirty="0">
                <a:solidFill>
                  <a:srgbClr val="FF0000"/>
                </a:solidFill>
              </a:rPr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3071817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BUSINESS PROBLEM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1E25A19-599B-F80B-E3E7-21B4B6408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" y="142979"/>
            <a:ext cx="10698480" cy="664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75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BUSINESS PROBLEM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BD69B3-DE9A-6A6B-226B-7D1CCC1D6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749440"/>
            <a:ext cx="11925300" cy="577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12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BUSINESS PROBLEM</a:t>
            </a: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C5C8A6-F94F-3F70-27F0-C3E1CADAF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" y="651319"/>
            <a:ext cx="11475720" cy="555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1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A50B7-EA3B-7A5E-B31D-5F79FD5918D6}"/>
              </a:ext>
            </a:extLst>
          </p:cNvPr>
          <p:cNvSpPr/>
          <p:nvPr/>
        </p:nvSpPr>
        <p:spPr>
          <a:xfrm>
            <a:off x="579120" y="320040"/>
            <a:ext cx="10447020" cy="6208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93211A-BA12-0C15-3998-4C6FEB1C4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37" y="652463"/>
            <a:ext cx="10001263" cy="32838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64ED0C-0603-23B5-1079-D17922EBEB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646"/>
          <a:stretch/>
        </p:blipFill>
        <p:spPr bwMode="auto">
          <a:xfrm>
            <a:off x="675377" y="4229099"/>
            <a:ext cx="10167883" cy="19764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89166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334020-38C8-F0A3-F20F-4CD2AA93E977}"/>
              </a:ext>
            </a:extLst>
          </p:cNvPr>
          <p:cNvSpPr/>
          <p:nvPr/>
        </p:nvSpPr>
        <p:spPr>
          <a:xfrm>
            <a:off x="579120" y="320040"/>
            <a:ext cx="10447020" cy="6208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64ED0C-0603-23B5-1079-D17922EBEB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646"/>
          <a:stretch/>
        </p:blipFill>
        <p:spPr bwMode="auto">
          <a:xfrm>
            <a:off x="1097280" y="4490452"/>
            <a:ext cx="9006840" cy="17150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60E2CF-217A-8E55-57F2-27B649FF0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742696"/>
            <a:ext cx="9006840" cy="340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63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Catalogue &amp; Rationale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toggle chosen for a documented reason, tied to a real attack pattern.</a:t>
            </a:r>
            <a:endParaRPr lang="en-US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83112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Mapping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storage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exposed to open internet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ATT&amp;CK T1530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open to 0.0.0.0/0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/ remote access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ATT&amp;CK T1133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firewall allow-all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reachable worldwide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ATT&amp;CK T1190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password auth enabled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Credential-based intrusion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ATT&amp;CK T1110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 disabled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evidence trail for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5A6A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A.8.15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5 of 16 · full catalogue in appendix · rationale + revert path documented per entry.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544068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D7F1EB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" y="5586984"/>
            <a:ext cx="365760" cy="36576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2" name="Image 0" descr="/sessions/nice-ecstatic-meitner/mnt/outputs/asset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5685739"/>
            <a:ext cx="168250" cy="168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61288" y="5458968"/>
            <a:ext cx="103967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arbitrary - each misconfiguration teaches a specific, real-world attack surface.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TECHNOLOGY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Secure-by-Default Baseline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Insecurity had to be switched on - this was a controlled experiment, not a leaky lab.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01168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7" y="21598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9568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rule → my-IP only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3258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default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80560" y="2139696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7F1EB"/>
          </a:solidFill>
          <a:ln/>
        </p:spPr>
      </p:sp>
      <p:sp>
        <p:nvSpPr>
          <p:cNvPr id="14" name="Shape 11"/>
          <p:cNvSpPr/>
          <p:nvPr/>
        </p:nvSpPr>
        <p:spPr>
          <a:xfrm>
            <a:off x="4526280" y="2167128"/>
            <a:ext cx="256032" cy="256032"/>
          </a:xfrm>
          <a:prstGeom prst="ellipse">
            <a:avLst/>
          </a:prstGeom>
          <a:solidFill>
            <a:srgbClr val="11A88E"/>
          </a:solidFill>
          <a:ln/>
        </p:spPr>
      </p:sp>
      <p:sp>
        <p:nvSpPr>
          <p:cNvPr id="15" name="Text 12"/>
          <p:cNvSpPr/>
          <p:nvPr/>
        </p:nvSpPr>
        <p:spPr>
          <a:xfrm>
            <a:off x="4818888" y="21488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17920" y="182880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64224" y="201168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8" name="Image 1" descr="/sessions/nice-ecstatic-meitner/mnt/outputs/assets/k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2159813"/>
            <a:ext cx="252374" cy="25237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19568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Key-based SSH only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0408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default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10195560" y="2139696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7F1EB"/>
          </a:solidFill>
          <a:ln/>
        </p:spPr>
      </p:sp>
      <p:sp>
        <p:nvSpPr>
          <p:cNvPr id="22" name="Shape 18"/>
          <p:cNvSpPr/>
          <p:nvPr/>
        </p:nvSpPr>
        <p:spPr>
          <a:xfrm>
            <a:off x="10241280" y="2167128"/>
            <a:ext cx="256032" cy="256032"/>
          </a:xfrm>
          <a:prstGeom prst="ellipse">
            <a:avLst/>
          </a:prstGeom>
          <a:solidFill>
            <a:srgbClr val="11A88E"/>
          </a:solidFill>
          <a:ln/>
        </p:spPr>
      </p:sp>
      <p:sp>
        <p:nvSpPr>
          <p:cNvPr id="23" name="Text 19"/>
          <p:cNvSpPr/>
          <p:nvPr/>
        </p:nvSpPr>
        <p:spPr>
          <a:xfrm>
            <a:off x="10533888" y="21488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02920" y="2907792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9224" y="3090672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6" name="Image 2" descr="/sessions/nice-ecstatic-meitner/mnt/outputs/asset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7" y="3238805"/>
            <a:ext cx="252374" cy="25237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25880" y="303580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source IPs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325880" y="3364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default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480560" y="321868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7F1EB"/>
          </a:solidFill>
          <a:ln/>
        </p:spPr>
      </p:sp>
      <p:sp>
        <p:nvSpPr>
          <p:cNvPr id="30" name="Shape 25"/>
          <p:cNvSpPr/>
          <p:nvPr/>
        </p:nvSpPr>
        <p:spPr>
          <a:xfrm>
            <a:off x="4526280" y="3246120"/>
            <a:ext cx="256032" cy="256032"/>
          </a:xfrm>
          <a:prstGeom prst="ellipse">
            <a:avLst/>
          </a:prstGeom>
          <a:solidFill>
            <a:srgbClr val="11A88E"/>
          </a:solidFill>
          <a:ln/>
        </p:spPr>
      </p:sp>
      <p:sp>
        <p:nvSpPr>
          <p:cNvPr id="31" name="Text 26"/>
          <p:cNvSpPr/>
          <p:nvPr/>
        </p:nvSpPr>
        <p:spPr>
          <a:xfrm>
            <a:off x="4818888" y="322783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217920" y="2907792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364224" y="3090672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4" name="Image 3" descr="/sessions/nice-ecstatic-meitner/mnt/outputs/assets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357" y="3238805"/>
            <a:ext cx="252374" cy="25237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40880" y="303580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access blocked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7040880" y="3364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default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10195560" y="321868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7F1EB"/>
          </a:solidFill>
          <a:ln/>
        </p:spPr>
      </p:sp>
      <p:sp>
        <p:nvSpPr>
          <p:cNvPr id="38" name="Shape 32"/>
          <p:cNvSpPr/>
          <p:nvPr/>
        </p:nvSpPr>
        <p:spPr>
          <a:xfrm>
            <a:off x="10241280" y="3246120"/>
            <a:ext cx="256032" cy="256032"/>
          </a:xfrm>
          <a:prstGeom prst="ellipse">
            <a:avLst/>
          </a:prstGeom>
          <a:solidFill>
            <a:srgbClr val="11A88E"/>
          </a:solidFill>
          <a:ln/>
        </p:spPr>
      </p:sp>
      <p:sp>
        <p:nvSpPr>
          <p:cNvPr id="39" name="Text 33"/>
          <p:cNvSpPr/>
          <p:nvPr/>
        </p:nvSpPr>
        <p:spPr>
          <a:xfrm>
            <a:off x="10533888" y="322783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02920" y="3986784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49224" y="4169664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42" name="Image 4" descr="/sessions/nice-ecstatic-meitner/mnt/outputs/assets/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7" y="4317797"/>
            <a:ext cx="252374" cy="25237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325880" y="41148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restricted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1325880" y="4443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default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4480560" y="4297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7F1EB"/>
          </a:solidFill>
          <a:ln/>
        </p:spPr>
      </p:sp>
      <p:sp>
        <p:nvSpPr>
          <p:cNvPr id="46" name="Shape 39"/>
          <p:cNvSpPr/>
          <p:nvPr/>
        </p:nvSpPr>
        <p:spPr>
          <a:xfrm>
            <a:off x="4526280" y="4325112"/>
            <a:ext cx="256032" cy="256032"/>
          </a:xfrm>
          <a:prstGeom prst="ellipse">
            <a:avLst/>
          </a:prstGeom>
          <a:solidFill>
            <a:srgbClr val="11A88E"/>
          </a:solidFill>
          <a:ln/>
        </p:spPr>
      </p:sp>
      <p:sp>
        <p:nvSpPr>
          <p:cNvPr id="47" name="Text 40"/>
          <p:cNvSpPr/>
          <p:nvPr/>
        </p:nvSpPr>
        <p:spPr>
          <a:xfrm>
            <a:off x="4818888" y="430682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6217920" y="3986784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6364224" y="4169664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50" name="Image 5" descr="/sessions/nice-ecstatic-meitner/mnt/outputs/asset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2357" y="4317797"/>
            <a:ext cx="252374" cy="252374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7040880" y="41148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wired</a:t>
            </a:r>
            <a:endParaRPr lang="en-US" sz="1250" dirty="0"/>
          </a:p>
        </p:txBody>
      </p:sp>
      <p:sp>
        <p:nvSpPr>
          <p:cNvPr id="52" name="Text 44"/>
          <p:cNvSpPr/>
          <p:nvPr/>
        </p:nvSpPr>
        <p:spPr>
          <a:xfrm>
            <a:off x="7040880" y="4443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default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10195560" y="4297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7F1EB"/>
          </a:solidFill>
          <a:ln/>
        </p:spPr>
      </p:sp>
      <p:sp>
        <p:nvSpPr>
          <p:cNvPr id="54" name="Shape 46"/>
          <p:cNvSpPr/>
          <p:nvPr/>
        </p:nvSpPr>
        <p:spPr>
          <a:xfrm>
            <a:off x="10241280" y="4325112"/>
            <a:ext cx="256032" cy="256032"/>
          </a:xfrm>
          <a:prstGeom prst="ellipse">
            <a:avLst/>
          </a:prstGeom>
          <a:solidFill>
            <a:srgbClr val="11A88E"/>
          </a:solidFill>
          <a:ln/>
        </p:spPr>
      </p:sp>
      <p:sp>
        <p:nvSpPr>
          <p:cNvPr id="55" name="Text 47"/>
          <p:cNvSpPr/>
          <p:nvPr/>
        </p:nvSpPr>
        <p:spPr>
          <a:xfrm>
            <a:off x="10533888" y="430682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secrets baseline: Entra ID + Azure RBAC least-privilege, Managed Identity over stored credentials, Key Vault for secrets.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78513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Break: Engineering the Baseline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controlled misconfigurations across 5 domains - double the individual-track minimum.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61872" y="2057400"/>
            <a:ext cx="585216" cy="585216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880" y="2215408"/>
            <a:ext cx="269199" cy="26919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502920" y="33101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Identity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2648" y="3840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Over-privileged roles · password auth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52344" y="18745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11296" y="2057400"/>
            <a:ext cx="585216" cy="585216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7" name="Image 1" descr="/sessions/nice-ecstatic-meitner/mnt/outputs/asset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304" y="2215408"/>
            <a:ext cx="269199" cy="2691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52344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2752344" y="33101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843784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2862072" y="3840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container · open network access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001768" y="18745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760720" y="2057400"/>
            <a:ext cx="585216" cy="585216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4" name="Image 2" descr="/sessions/nice-ecstatic-meitner/mnt/outputs/asset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728" y="2215408"/>
            <a:ext cx="269199" cy="26919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01768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6" name="Text 21"/>
          <p:cNvSpPr/>
          <p:nvPr/>
        </p:nvSpPr>
        <p:spPr>
          <a:xfrm>
            <a:off x="5001768" y="33101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093208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111496" y="3840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to internet · SQL 0.0.0.0/0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7251192" y="18745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010144" y="2057400"/>
            <a:ext cx="585216" cy="585216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1" name="Image 3" descr="/sessions/nice-ecstatic-meitner/mnt/outputs/asset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8152" y="2215408"/>
            <a:ext cx="269199" cy="26919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51192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33" name="Text 27"/>
          <p:cNvSpPr/>
          <p:nvPr/>
        </p:nvSpPr>
        <p:spPr>
          <a:xfrm>
            <a:off x="7251192" y="33101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342632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7360920" y="3840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missing data protection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9500616" y="18745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259568" y="2057400"/>
            <a:ext cx="585216" cy="585216"/>
          </a:xfrm>
          <a:prstGeom prst="ellipse">
            <a:avLst/>
          </a:prstGeom>
          <a:solidFill>
            <a:srgbClr val="C0392B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8" name="Image 4" descr="/sessions/nice-ecstatic-meitner/mnt/outputs/assets/ey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7576" y="2215408"/>
            <a:ext cx="269199" cy="269199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500616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40" name="Text 33"/>
          <p:cNvSpPr/>
          <p:nvPr/>
        </p:nvSpPr>
        <p:spPr>
          <a:xfrm>
            <a:off x="9500616" y="33101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9592056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610344" y="3840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disabled · no evidence trail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502920" y="470916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DEECF9"/>
          </a:solidFill>
          <a:ln/>
        </p:spPr>
      </p:sp>
      <p:sp>
        <p:nvSpPr>
          <p:cNvPr id="44" name="Shape 37"/>
          <p:cNvSpPr/>
          <p:nvPr/>
        </p:nvSpPr>
        <p:spPr>
          <a:xfrm>
            <a:off x="649224" y="4855464"/>
            <a:ext cx="365760" cy="36576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45" name="Image 5" descr="/sessions/nice-ecstatic-meitner/mnt/outputs/assets/slid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979" y="4954219"/>
            <a:ext cx="168250" cy="16825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161288" y="4727448"/>
            <a:ext cx="103967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kern="0" spc="1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broad, deliberate baseline means the detection results that follow are meaningful - not cherry-picked.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502920" y="5504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total toggles · secure-by-default · each independently revertible via Terraform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95373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Detection: Triangulating the Baseline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credible numbers do more work than a paragraph of claims.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9507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20824"/>
            <a:ext cx="195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94360" y="2715768"/>
            <a:ext cx="176784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Prowler findings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broken estate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27960" y="1874520"/>
            <a:ext cx="19507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27960" y="2020824"/>
            <a:ext cx="195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819400" y="2715768"/>
            <a:ext cx="176784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FAILs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triage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53000" y="1874520"/>
            <a:ext cx="19507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3000" y="2020824"/>
            <a:ext cx="195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044440" y="2715768"/>
            <a:ext cx="176784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scanners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each other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1874520"/>
            <a:ext cx="4507992" cy="3246120"/>
          </a:xfrm>
          <a:prstGeom prst="roundRect">
            <a:avLst>
              <a:gd name="adj" fmla="val 197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AGREEMENT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2606040"/>
            <a:ext cx="1280160" cy="1280160"/>
          </a:xfrm>
          <a:prstGeom prst="ellipse">
            <a:avLst/>
          </a:prstGeom>
          <a:solidFill>
            <a:srgbClr val="0F6CBD">
              <a:alpha val="65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2606040"/>
            <a:ext cx="1280160" cy="1280160"/>
          </a:xfrm>
          <a:prstGeom prst="ellipse">
            <a:avLst/>
          </a:prstGeom>
          <a:solidFill>
            <a:srgbClr val="11A88E">
              <a:alpha val="65000"/>
            </a:srgbClr>
          </a:solidFill>
          <a:ln w="19050">
            <a:solidFill>
              <a:srgbClr val="11A8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3291840"/>
            <a:ext cx="1280160" cy="1280160"/>
          </a:xfrm>
          <a:prstGeom prst="ellipse">
            <a:avLst/>
          </a:prstGeom>
          <a:solidFill>
            <a:srgbClr val="C98A21">
              <a:alpha val="65000"/>
            </a:srgbClr>
          </a:solidFill>
          <a:ln w="19050">
            <a:solidFill>
              <a:srgbClr val="C98A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926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high confidence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75520" y="26974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corroborates a finding; a tool-only hit flags a coverage gap to investigate.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44068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DEEC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" y="5586984"/>
            <a:ext cx="365760" cy="36576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6" name="Image 0" descr="/sessions/nice-ecstatic-meitner/mnt/outputs/asset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5685739"/>
            <a:ext cx="168250" cy="16825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61288" y="5458968"/>
            <a:ext cx="103967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kern="0" spc="1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real security teams reduce false negatives - no single scanner is trusted alone.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515013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Remediation Guidance - Verified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used to translate, not to decide - and its output is fact-checked.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60375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48765" y="2048256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22" y="2186513"/>
            <a:ext cx="235549" cy="2355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" y="2596896"/>
            <a:ext cx="249402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scanner finding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34106" y="2468880"/>
            <a:ext cx="201168" cy="0"/>
          </a:xfrm>
          <a:prstGeom prst="line">
            <a:avLst/>
          </a:prstGeom>
          <a:noFill/>
          <a:ln w="22225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62706" y="1920240"/>
            <a:ext cx="260375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08551" y="2048256"/>
            <a:ext cx="512064" cy="51206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5" name="Image 1" descr="/sessions/nice-ecstatic-meitner/mnt/outputs/asset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808" y="218651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7570" y="2596896"/>
            <a:ext cx="249402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drafts explanation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93892" y="2468880"/>
            <a:ext cx="201168" cy="0"/>
          </a:xfrm>
          <a:prstGeom prst="line">
            <a:avLst/>
          </a:prstGeom>
          <a:noFill/>
          <a:ln w="22225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222492" y="1920240"/>
            <a:ext cx="260375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68337" y="2048256"/>
            <a:ext cx="512064" cy="512064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0" name="Image 2" descr="/sessions/nice-ecstatic-meitner/mnt/outputs/asset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594" y="2186513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7356" y="2596896"/>
            <a:ext cx="249402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vs raw evidence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53678" y="2468880"/>
            <a:ext cx="201168" cy="0"/>
          </a:xfrm>
          <a:prstGeom prst="line">
            <a:avLst/>
          </a:prstGeom>
          <a:noFill/>
          <a:ln w="22225">
            <a:solidFill>
              <a:srgbClr val="0F6CBD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082278" y="1920240"/>
            <a:ext cx="260375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128123" y="2048256"/>
            <a:ext cx="512064" cy="512064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5" name="Image 3" descr="/sessions/nice-ecstatic-meitner/mnt/outputs/assets/shield-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6380" y="2186513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37142" y="2596896"/>
            <a:ext cx="249402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output to operator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02920" y="3063240"/>
            <a:ext cx="2603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fields: resource, check, status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3362706" y="3063240"/>
            <a:ext cx="2603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2-line plain-English "what &amp; why"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6222492" y="3063240"/>
            <a:ext cx="2603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finding fields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9082278" y="3063240"/>
            <a:ext cx="2603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text reaches the console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02920" y="3794760"/>
            <a:ext cx="7040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685800" y="3913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85800" y="4187952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storage_container_public = TRUE
</a:t>
            </a:r>
            <a:r>
              <a:rPr lang="en-US" sz="11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r>
              <a:rPr lang="en-US" sz="11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blob container is world-readable; anyone can list and download its data. Enable the public-access block."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726680" y="3794760"/>
            <a:ext cx="3959352" cy="1417320"/>
          </a:xfrm>
          <a:prstGeom prst="roundRect">
            <a:avLst>
              <a:gd name="adj" fmla="val 451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7909560" y="3913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909560" y="42062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is shown unless it matches the underlying finding. Un-verifiable text is suppressed, never guessed.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1419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Remediation &amp; Safety Guardrails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bounded by risk classification - never applied blindly.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37760" y="1828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0B1F3A"/>
          </a:solidFill>
          <a:ln/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84708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 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0" cy="822960"/>
          </a:xfrm>
          <a:prstGeom prst="line">
            <a:avLst/>
          </a:prstGeom>
          <a:noFill/>
          <a:ln w="25400">
            <a:solidFill>
              <a:srgbClr val="11A88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2320" y="2560320"/>
            <a:ext cx="1828800" cy="822960"/>
          </a:xfrm>
          <a:prstGeom prst="line">
            <a:avLst/>
          </a:prstGeom>
          <a:noFill/>
          <a:ln w="25400">
            <a:solidFill>
              <a:srgbClr val="C98A2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54480" y="342900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D7F1EB"/>
          </a:solidFill>
          <a:ln w="12700">
            <a:solidFill>
              <a:srgbClr val="11A88E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83080" y="3611880"/>
            <a:ext cx="548640" cy="548640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4" name="Image 0" descr="/sessions/nice-ecstatic-meitner/mnt/outputs/assets/refre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213" y="3760013"/>
            <a:ext cx="252374" cy="2523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423160" y="36393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REVERSIBLE → AUTO-FIX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783080" y="42245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 storage public-access block</a:t>
            </a:r>
            <a:endParaRPr lang="en-US" sz="1100" dirty="0"/>
          </a:p>
          <a:p>
            <a:pPr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default encryption</a:t>
            </a:r>
            <a:endParaRPr lang="en-US" sz="1100" dirty="0"/>
          </a:p>
          <a:p>
            <a:pPr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diagnostic logging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0" y="342900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6EBD3"/>
          </a:solidFill>
          <a:ln w="12700">
            <a:solidFill>
              <a:srgbClr val="C98A21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12280" y="3611880"/>
            <a:ext cx="548640" cy="548640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9" name="Image 1" descr="/sessions/nice-ecstatic-meitner/mnt/outputs/assets/gave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3" y="3760013"/>
            <a:ext cx="252374" cy="25237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52360" y="36393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· IRREVERSIBLE → HUMAN GATE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812280" y="42245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key rotation / deletion</a:t>
            </a:r>
            <a:endParaRPr lang="en-US" sz="1100" dirty="0"/>
          </a:p>
          <a:p>
            <a:pPr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 changes</a:t>
            </a:r>
            <a:endParaRPr lang="en-US" sz="1100" dirty="0"/>
          </a:p>
          <a:p>
            <a:pPr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blast radius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566160" y="5166360"/>
            <a:ext cx="1828800" cy="457200"/>
          </a:xfrm>
          <a:prstGeom prst="line">
            <a:avLst/>
          </a:prstGeom>
          <a:noFill/>
          <a:ln w="19050">
            <a:solidFill>
              <a:srgbClr val="5A6A7F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595360" y="5166360"/>
            <a:ext cx="0" cy="457200"/>
          </a:xfrm>
          <a:prstGeom prst="line">
            <a:avLst/>
          </a:prstGeom>
          <a:noFill/>
          <a:ln w="19050">
            <a:solidFill>
              <a:srgbClr val="5A6A7F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4937760" y="553212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0B1F3A"/>
          </a:solidFill>
          <a:ln/>
        </p:spPr>
      </p:sp>
      <p:sp>
        <p:nvSpPr>
          <p:cNvPr id="25" name="Text 21"/>
          <p:cNvSpPr/>
          <p:nvPr/>
        </p:nvSpPr>
        <p:spPr>
          <a:xfrm>
            <a:off x="4937760" y="55321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02920" y="187452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execution: Azure Functions / Logic Apps triggered on approval; guardrails enforced in code.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97385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- BREAK · REASON · GOVERN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Governance Logging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permanently recorded - auditable by design.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9" name="Image 0" descr="/sessions/nice-ecstatic-meitner/mnt/outputs/asset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51" y="207331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901952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what · when · why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26464" y="2167128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approval, rejection and remediation is captured with actor and timestamp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2971800"/>
            <a:ext cx="566928" cy="566928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3" name="Image 1" descr="/sessions/nice-ecstatic-meitner/mnt/outputs/asset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51" y="312487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26464" y="2953512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append-only log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426464" y="3218688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SQLite-backed decision + audit store; no silent overwrites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66928" cy="566928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7" name="Image 2" descr="/sessions/nice-ecstatic-meitner/mnt/outputs/asset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51" y="417643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26464" y="4005072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export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26464" y="4270248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trail an ISO 27001 assessor can consume directly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55080" y="1920240"/>
            <a:ext cx="5330952" cy="3063240"/>
          </a:xfrm>
          <a:prstGeom prst="roundRect">
            <a:avLst>
              <a:gd name="adj" fmla="val 1791"/>
            </a:avLst>
          </a:prstGeom>
          <a:solidFill>
            <a:srgbClr val="F1F4F8"/>
          </a:solidFill>
          <a:ln w="15875">
            <a:solidFill>
              <a:srgbClr val="2B88D8"/>
            </a:solidFill>
            <a:prstDash val="dash"/>
          </a:ln>
        </p:spPr>
      </p:sp>
      <p:pic>
        <p:nvPicPr>
          <p:cNvPr id="21" name="Image 3" descr="/sessions/nice-ecstatic-meitner/mnt/outputs/assets/eye_az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9388" y="299466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37960" y="3470148"/>
            <a:ext cx="4965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i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- Audit Trail page with sample decision log entries ]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539496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/>
        </p:spPr>
      </p:sp>
      <p:sp>
        <p:nvSpPr>
          <p:cNvPr id="24" name="Shape 18"/>
          <p:cNvSpPr/>
          <p:nvPr/>
        </p:nvSpPr>
        <p:spPr>
          <a:xfrm>
            <a:off x="649224" y="5541264"/>
            <a:ext cx="365760" cy="365760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5" name="Image 4" descr="/sessions/nice-ecstatic-meitner/mnt/outputs/assets/refres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979" y="5640019"/>
            <a:ext cx="168250" cy="1682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61288" y="5413248"/>
            <a:ext cx="103967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back to the opening problem: repeated audit failure becomes a continuous evidence trail.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432275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Matrix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has both a detective and a corrective control - coverage is comprehensive.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502920" y="1965960"/>
          <a:ext cx="11183112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Detective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IAM &amp; Identity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over-privilege / password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A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keys · enforce key-only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public container / open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A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Re-enable public-access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Networking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open SSH / SQL 0.0.0.0/0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A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NSG &amp; firewall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Encryption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missing default encryption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A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encryption at 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Logging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disabled diagnostics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A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Log Analytics wiring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544068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DEEC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" y="5586984"/>
            <a:ext cx="365760" cy="36576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1" name="Image 0" descr="/sessions/nice-ecstatic-meitner/mnt/outputs/assets/shield-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5685739"/>
            <a:ext cx="168250" cy="168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61288" y="5458968"/>
            <a:ext cx="103967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kern="0" spc="1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without correction is just reporting - every domain closes the loop end to end.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508501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Alignment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segmentation and continuous verification - even at lab scale.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56816" y="2084832"/>
            <a:ext cx="658368" cy="658368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575" y="2262591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explicitly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337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posture scanning, never assume clean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51960" y="187452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05856" y="2084832"/>
            <a:ext cx="658368" cy="658368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5" name="Image 1" descr="/sessions/nice-ecstatic-meitner/mnt/outputs/asset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615" y="2262591"/>
            <a:ext cx="302849" cy="3028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80560" y="3337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over-privilege detection &amp; key rotation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01000" y="187452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54896" y="2084832"/>
            <a:ext cx="658368" cy="658368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0" name="Image 2" descr="/sessions/nice-ecstatic-meitner/mnt/outputs/asset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655" y="2262591"/>
            <a:ext cx="302849" cy="3028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0100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breach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229600" y="3337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checks · blast-radius scoring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02920" y="4389120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3152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CLOUDGUARDIAN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31520" y="48006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findings enforce least privilege · network findings enforce segmentation · continuous scanning enforces "verify explicitly" - the three Zero Trust pillars expressed as concrete controls.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802893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CONTROLS &amp; FRAMEWORK ALIGNMENT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Mapping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touches all six functions - most concretely Detect, Respond and Govern.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2376" y="2112264"/>
            <a:ext cx="603504" cy="603504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gave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22" y="2275210"/>
            <a:ext cx="277612" cy="2776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09397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63040" y="24414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22376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 · audit trail · policy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51960" y="187452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71416" y="2112264"/>
            <a:ext cx="603504" cy="60350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6" name="Image 1" descr="/sessions/nice-ecstatic-meitner/mnt/outputs/asset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362" y="2275210"/>
            <a:ext cx="277612" cy="2776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209397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471416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&amp; misconfig discovery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01000" y="187452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0456" y="2112264"/>
            <a:ext cx="603504" cy="60350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1" name="Image 2" descr="/sessions/nice-ecstatic-meitner/mnt/outputs/asset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402" y="2275210"/>
            <a:ext cx="277612" cy="2776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61120" y="209397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220456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· encryption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02920" y="352044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2376" y="3758184"/>
            <a:ext cx="603504" cy="603504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6" name="Image 3" descr="/sessions/nice-ecstatic-meitner/mnt/outputs/asset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22" y="3921130"/>
            <a:ext cx="277612" cy="2776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373989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463040" y="40873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722376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CSPM scanning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251960" y="352044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471416" y="3758184"/>
            <a:ext cx="603504" cy="603504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2" name="Image 4" descr="/sessions/nice-ecstatic-meitner/mnt/outputs/asset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4362" y="3921130"/>
            <a:ext cx="277612" cy="2776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12080" y="373989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5212080" y="40873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4471416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· remediate · gate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001000" y="352044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220456" y="3758184"/>
            <a:ext cx="603504" cy="603504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8" name="Image 5" descr="/sessions/nice-ecstatic-meitner/mnt/outputs/assets/refres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3402" y="3921130"/>
            <a:ext cx="277612" cy="2776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961120" y="373989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220456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to secure baseline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04526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reports like any real operations function.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259003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12264"/>
            <a:ext cx="25900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94360" y="2807208"/>
            <a:ext cx="240715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detected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scan cycle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7278" y="1965960"/>
            <a:ext cx="259003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67278" y="2112264"/>
            <a:ext cx="25900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58718" y="2807208"/>
            <a:ext cx="240715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cross-check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1636" y="1965960"/>
            <a:ext cx="259003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1636" y="2112264"/>
            <a:ext cx="25900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23076" y="2807208"/>
            <a:ext cx="240715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auto-remediated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human touch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5994" y="1965960"/>
            <a:ext cx="259003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95994" y="2112264"/>
            <a:ext cx="25900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87434" y="2807208"/>
            <a:ext cx="240715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actions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512064" cy="51206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1" name="Image 0" descr="/sessions/nice-ecstatic-meitner/mnt/outputs/asset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978737"/>
            <a:ext cx="235549" cy="23554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4434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detection coverage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46908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baseline flaws caught by ≥1 tool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310128" y="3840480"/>
            <a:ext cx="512064" cy="51206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5" name="Image 1" descr="/sessions/nice-ecstatic-meitner/mnt/outputs/assets/refre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385" y="3978737"/>
            <a:ext cx="235549" cy="23554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310128" y="4434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rate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3310128" y="46908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fixes closed without human action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117336" y="3840480"/>
            <a:ext cx="512064" cy="51206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9" name="Image 2" descr="/sessions/nice-ecstatic-meitner/mnt/outputs/assets/gave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593" y="3978737"/>
            <a:ext cx="235549" cy="235549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117336" y="4434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adherence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117336" y="46908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actions requiring explicit approval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8924544" y="3840480"/>
            <a:ext cx="512064" cy="512064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33" name="Image 3" descr="/sessions/nice-ecstatic-meitner/mnt/outputs/asset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2801" y="3978737"/>
            <a:ext cx="235549" cy="23554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924544" y="4434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Time-to-triage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8924544" y="46908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backlog available at scan completion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8B7CD7-CAB8-ADD8-EA34-047B2CE7771C}"/>
              </a:ext>
            </a:extLst>
          </p:cNvPr>
          <p:cNvSpPr txBox="1"/>
          <p:nvPr/>
        </p:nvSpPr>
        <p:spPr>
          <a:xfrm>
            <a:off x="6527800" y="279400"/>
            <a:ext cx="34480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Try to consolidate into 1 slide</a:t>
            </a:r>
          </a:p>
        </p:txBody>
      </p:sp>
    </p:spTree>
    <p:extLst>
      <p:ext uri="{BB962C8B-B14F-4D97-AF65-F5344CB8AC3E}">
        <p14:creationId xmlns:p14="http://schemas.microsoft.com/office/powerpoint/2010/main" val="1217428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Translation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CISO cares - closing the loop back to the audit-failure story.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" y="2130552"/>
            <a:ext cx="713232" cy="713232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0" name="Image 0" descr="/sessions/nice-ecstatic-meitner/mnt/outputs/asset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37" y="2323125"/>
            <a:ext cx="328087" cy="3280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21122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audit readiness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91640" y="249631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evidence trail; no scramble before assessments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187452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55664" y="2130552"/>
            <a:ext cx="713232" cy="713232"/>
          </a:xfrm>
          <a:prstGeom prst="ellipse">
            <a:avLst/>
          </a:prstGeom>
          <a:solidFill>
            <a:srgbClr val="11A88E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5" name="Image 1" descr="/sessions/nice-ecstatic-meitner/mnt/outputs/assets/refre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237" y="2323125"/>
            <a:ext cx="328087" cy="3280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06640" y="21122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repeat findings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406640" y="249631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detection breaks the sprint-over-sprint cycle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2920" y="356616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0664" y="3822192"/>
            <a:ext cx="713232" cy="713232"/>
          </a:xfrm>
          <a:prstGeom prst="ellipse">
            <a:avLst/>
          </a:prstGeom>
          <a:solidFill>
            <a:srgbClr val="C98A21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0" name="Image 2" descr="/sessions/nice-ecstatic-meitner/mnt/outputs/asset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237" y="4014765"/>
            <a:ext cx="328087" cy="3280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38039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toil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91640" y="418795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triage a ranked backlog, not raw scanner noise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17920" y="356616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55664" y="3822192"/>
            <a:ext cx="713232" cy="713232"/>
          </a:xfrm>
          <a:prstGeom prst="ellipse">
            <a:avLst/>
          </a:prstGeom>
          <a:solidFill>
            <a:srgbClr val="0B1F3A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25" name="Image 3" descr="/sessions/nice-ecstatic-meitner/mnt/outputs/asset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237" y="4014765"/>
            <a:ext cx="328087" cy="3280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06640" y="38039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evidence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406640" y="418795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Auditor-ready audit trail mapped to ISO 27001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758987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BUSINESS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Discipline vs. Risk Reduction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risk reduction at near-zero infrastructure cost.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60350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20440"/>
            <a:ext cx="60350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920240"/>
            <a:ext cx="0" cy="320040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13892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 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1993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HIGHER COST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0" y="4297680"/>
            <a:ext cx="457200" cy="457200"/>
          </a:xfrm>
          <a:prstGeom prst="ellipse">
            <a:avLst/>
          </a:prstGeom>
          <a:solidFill>
            <a:srgbClr val="11A88E"/>
          </a:solidFill>
          <a:ln/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· high reduction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8872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CNAPP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0" y="1920240"/>
            <a:ext cx="2048256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2066544"/>
            <a:ext cx="20482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406640" y="2761488"/>
            <a:ext cx="18653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- free-tier + destroy-when-idle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37776" y="1920240"/>
            <a:ext cx="2048256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37776" y="2066544"/>
            <a:ext cx="20482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729216" y="2761488"/>
            <a:ext cx="18653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open-finding reduction delivered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3566160"/>
            <a:ext cx="4370832" cy="1554480"/>
          </a:xfrm>
          <a:prstGeom prst="roundRect">
            <a:avLst>
              <a:gd name="adj" fmla="val 411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38100" dir="5400000" algn="bl" rotWithShape="0">
              <a:srgbClr val="AAB4C2">
                <a:alpha val="3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1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400507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posture outcomes do not require enterprise-grade spend to prototype and prove.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44069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CSPM Executive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Lessons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64556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LESSONS &amp;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 &amp; Lessons Learned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22529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projects hit real friction - diagnosed methodically, not guessed.</a:t>
            </a:r>
            <a:endParaRPr lang="en-US" sz="13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/>
        </p:nvGraphicFramePr>
        <p:xfrm>
          <a:off x="502920" y="1965960"/>
          <a:ext cx="11183112" cy="31089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Prowler failed to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MAX_PATH 260-char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A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 long paths · installed to short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Terraform apply errors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platform constraints (TDE, TLS, retention)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A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Reworked resources to valid Azure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Provider race conditions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existed in Azure, not in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A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import to reconcile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525780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DEEC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" y="5404104"/>
            <a:ext cx="365760" cy="365760"/>
          </a:xfrm>
          <a:prstGeom prst="ellipse">
            <a:avLst/>
          </a:prstGeom>
          <a:solidFill>
            <a:srgbClr val="0F6CBD"/>
          </a:solidFill>
          <a:ln/>
          <a:effectLst>
            <a:outerShdw blurRad="63500" dist="25400" dir="5400000" algn="bl" rotWithShape="0">
              <a:srgbClr val="AAB4C2">
                <a:alpha val="25000"/>
              </a:srgbClr>
            </a:outerShdw>
          </a:effectLst>
        </p:spPr>
      </p:sp>
      <p:pic>
        <p:nvPicPr>
          <p:cNvPr id="11" name="Image 0" descr="/sessions/nice-ecstatic-meitner/mnt/outputs/asset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5502859"/>
            <a:ext cx="168250" cy="168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61288" y="5276088"/>
            <a:ext cx="103967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kern="0" spc="10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 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debugging over guesswork - the trait that separates a builder from a script-runner.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739579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2319</TotalTime>
  <Words>9785</Words>
  <Application>Microsoft Office PowerPoint</Application>
  <PresentationFormat>Widescreen</PresentationFormat>
  <Paragraphs>912</Paragraphs>
  <Slides>38</Slides>
  <Notes>38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IIT Roorkee x Futurense — AI/GenAI Powered Cybersecurity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CloudGuardian — CSPM Executive Briefing</dc:title>
  <dc:subject>PptxGenJS Presentation</dc:subject>
  <dc:creator>CloudGuardian</dc:creator>
  <cp:lastModifiedBy>Kedar Pavaskar</cp:lastModifiedBy>
  <cp:revision>15</cp:revision>
  <dcterms:created xsi:type="dcterms:W3CDTF">2026-07-21T03:13:24Z</dcterms:created>
  <dcterms:modified xsi:type="dcterms:W3CDTF">2026-08-01T18:56:25Z</dcterms:modified>
</cp:coreProperties>
</file>